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2.jpg" ContentType="image/jpg"/>
  <Override PartName="/ppt/media/image-10-1.jpg" ContentType="image/jpg"/>
  <Override PartName="/ppt/media/image-11-1.jpg" ContentType="image/jpg"/>
  <Override PartName="/ppt/media/image-12-1.jpg" ContentType="image/jpg"/>
  <Override PartName="/ppt/media/image-12-2.jpg" ContentType="image/jpg"/>
  <Override PartName="/ppt/media/image-12-3.jpg" ContentType="image/jpg"/>
  <Override PartName="/ppt/media/image-13-1.jpg" ContentType="image/jpg"/>
  <Override PartName="/ppt/media/image-14-1.jpg" ContentType="image/jpg"/>
  <Override PartName="/ppt/media/image-14-2.jpg" ContentType="image/jpg"/>
  <Override PartName="/ppt/media/image-2-1.jpg" ContentType="image/jpg"/>
  <Override PartName="/ppt/media/image-2-2.jpg" ContentType="image/jpg"/>
  <Override PartName="/ppt/media/image-3-1.jpg" ContentType="image/jpg"/>
  <Override PartName="/ppt/media/image-3-2.jpg" ContentType="image/jpg"/>
  <Override PartName="/ppt/media/image-4-1.jpg" ContentType="image/jpg"/>
  <Override PartName="/ppt/media/image-4-2.jpg" ContentType="image/jpg"/>
  <Override PartName="/ppt/media/image-5-1.jpg" ContentType="image/jpg"/>
  <Override PartName="/ppt/media/image-6-1.jpg" ContentType="image/jpg"/>
  <Override PartName="/ppt/media/image-6-2.jpg" ContentType="image/jpg"/>
  <Override PartName="/ppt/media/image-7-1.jpg" ContentType="image/jpg"/>
  <Override PartName="/ppt/media/image-8-1.jpg" ContentType="image/jpg"/>
  <Override PartName="/ppt/media/image-9-1.jpg" ContentType="image/jpg"/>
  <Override PartName="/ppt/media/image-9-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 Id="rId6"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82D"/>
        </a:solidFill>
      </p:bgPr>
    </p:bg>
    <p:spTree>
      <p:nvGrpSpPr>
        <p:cNvPr id="1" name=""/>
        <p:cNvGrpSpPr/>
        <p:nvPr/>
      </p:nvGrpSpPr>
      <p:grpSpPr>
        <a:xfrm>
          <a:off x="0" y="0"/>
          <a:ext cx="0" cy="0"/>
          <a:chOff x="0" y="0"/>
          <a:chExt cx="0" cy="0"/>
        </a:xfrm>
      </p:grpSpPr>
      <p:pic>
        <p:nvPicPr>
          <p:cNvPr id="2" name="Image 0" descr="/mnt/data/hero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5074920" y="502920"/>
            <a:ext cx="2011680" cy="2011680"/>
          </a:xfrm>
          <a:prstGeom prst="rect">
            <a:avLst/>
          </a:prstGeom>
        </p:spPr>
      </p:pic>
      <p:sp>
        <p:nvSpPr>
          <p:cNvPr id="4" name="Text 0"/>
          <p:cNvSpPr/>
          <p:nvPr/>
        </p:nvSpPr>
        <p:spPr>
          <a:xfrm>
            <a:off x="1143000" y="2633472"/>
            <a:ext cx="9921240" cy="594360"/>
          </a:xfrm>
          <a:prstGeom prst="rect">
            <a:avLst/>
          </a:prstGeom>
          <a:noFill/>
          <a:ln/>
        </p:spPr>
        <p:txBody>
          <a:bodyPr wrap="square" lIns="0" tIns="0" rIns="0" bIns="0" rtlCol="0" anchor="ctr">
            <a:normAutofit/>
          </a:bodyPr>
          <a:lstStyle/>
          <a:p>
            <a:pPr algn="ctr" indent="0" marL="0">
              <a:buNone/>
            </a:pPr>
            <a:r>
              <a:rPr lang="en-US" sz="3800" b="1" dirty="0">
                <a:solidFill>
                  <a:srgbClr val="FBBF24"/>
                </a:solidFill>
                <a:latin typeface="Aptos Display" pitchFamily="34" charset="0"/>
                <a:ea typeface="Aptos Display" pitchFamily="34" charset="-122"/>
                <a:cs typeface="Aptos Display" pitchFamily="34" charset="-120"/>
              </a:rPr>
              <a:t>MERIDIAN FIELD COMMAND</a:t>
            </a:r>
            <a:endParaRPr lang="en-US" sz="3800" dirty="0"/>
          </a:p>
        </p:txBody>
      </p:sp>
      <p:sp>
        <p:nvSpPr>
          <p:cNvPr id="5" name="Text 1"/>
          <p:cNvSpPr/>
          <p:nvPr/>
        </p:nvSpPr>
        <p:spPr>
          <a:xfrm>
            <a:off x="1828800" y="3337560"/>
            <a:ext cx="8531352" cy="310896"/>
          </a:xfrm>
          <a:prstGeom prst="rect">
            <a:avLst/>
          </a:prstGeom>
          <a:noFill/>
          <a:ln/>
        </p:spPr>
        <p:txBody>
          <a:bodyPr wrap="square" lIns="0" tIns="0" rIns="0" bIns="0" rtlCol="0" anchor="ctr"/>
          <a:lstStyle/>
          <a:p>
            <a:pPr algn="ctr" indent="0" marL="0">
              <a:buNone/>
            </a:pPr>
            <a:r>
              <a:rPr lang="en-US" sz="1850" dirty="0">
                <a:solidFill>
                  <a:srgbClr val="F8FAFC"/>
                </a:solidFill>
              </a:rPr>
              <a:t>AI-powered construction management for solar EPC</a:t>
            </a:r>
            <a:endParaRPr lang="en-US" sz="1850" dirty="0"/>
          </a:p>
        </p:txBody>
      </p:sp>
      <p:sp>
        <p:nvSpPr>
          <p:cNvPr id="6" name="Shape 2"/>
          <p:cNvSpPr/>
          <p:nvPr/>
        </p:nvSpPr>
        <p:spPr>
          <a:xfrm>
            <a:off x="3977640" y="3867912"/>
            <a:ext cx="4224528" cy="0"/>
          </a:xfrm>
          <a:prstGeom prst="line">
            <a:avLst/>
          </a:prstGeom>
          <a:noFill/>
          <a:ln w="19050">
            <a:solidFill>
              <a:srgbClr val="F59E0B"/>
            </a:solidFill>
            <a:prstDash val="solid"/>
          </a:ln>
        </p:spPr>
      </p:sp>
      <p:sp>
        <p:nvSpPr>
          <p:cNvPr id="7" name="Text 3"/>
          <p:cNvSpPr/>
          <p:nvPr/>
        </p:nvSpPr>
        <p:spPr>
          <a:xfrm>
            <a:off x="2286000" y="4069080"/>
            <a:ext cx="7616952" cy="320040"/>
          </a:xfrm>
          <a:prstGeom prst="rect">
            <a:avLst/>
          </a:prstGeom>
          <a:noFill/>
          <a:ln/>
        </p:spPr>
        <p:txBody>
          <a:bodyPr wrap="square" lIns="0" tIns="0" rIns="0" bIns="0" rtlCol="0" anchor="ctr"/>
          <a:lstStyle/>
          <a:p>
            <a:pPr algn="ctr" indent="0" marL="0">
              <a:buNone/>
            </a:pPr>
            <a:r>
              <a:rPr lang="en-US" sz="1350" b="1" dirty="0">
                <a:solidFill>
                  <a:srgbClr val="B8C5D6"/>
                </a:solidFill>
              </a:rPr>
              <a:t>BUILT FOR THE FIELD. BY THE FIELD.</a:t>
            </a:r>
            <a:endParaRPr lang="en-US" sz="1350" dirty="0"/>
          </a:p>
        </p:txBody>
      </p:sp>
      <p:sp>
        <p:nvSpPr>
          <p:cNvPr id="8" name="Text 4"/>
          <p:cNvSpPr/>
          <p:nvPr/>
        </p:nvSpPr>
        <p:spPr>
          <a:xfrm>
            <a:off x="3886200" y="6309360"/>
            <a:ext cx="4434840" cy="201168"/>
          </a:xfrm>
          <a:prstGeom prst="rect">
            <a:avLst/>
          </a:prstGeom>
          <a:noFill/>
          <a:ln/>
        </p:spPr>
        <p:txBody>
          <a:bodyPr wrap="square" lIns="0" tIns="0" rIns="0" bIns="0" rtlCol="0" anchor="ctr"/>
          <a:lstStyle/>
          <a:p>
            <a:pPr algn="ctr" indent="0" marL="0">
              <a:buNone/>
            </a:pPr>
            <a:r>
              <a:rPr lang="en-US" sz="850" dirty="0">
                <a:solidFill>
                  <a:srgbClr val="7D8EA3"/>
                </a:solidFill>
              </a:rPr>
              <a:t>OpenVC score-optimized investor deck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82D"/>
        </a:solidFill>
      </p:bgPr>
    </p:bg>
    <p:spTree>
      <p:nvGrpSpPr>
        <p:cNvPr id="1" name=""/>
        <p:cNvGrpSpPr/>
        <p:nvPr/>
      </p:nvGrpSpPr>
      <p:grpSpPr>
        <a:xfrm>
          <a:off x="0" y="0"/>
          <a:ext cx="0" cy="0"/>
          <a:chOff x="0" y="0"/>
          <a:chExt cx="0" cy="0"/>
        </a:xfrm>
      </p:grpSpPr>
      <p:pic>
        <p:nvPicPr>
          <p:cNvPr id="2" name="Image 0" descr="/mnt/data/landscape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Solar growth, schedule pressure, and AI maturity are converging now</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02</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sp>
        <p:nvSpPr>
          <p:cNvPr id="7" name="Text 3"/>
          <p:cNvSpPr/>
          <p:nvPr/>
        </p:nvSpPr>
        <p:spPr>
          <a:xfrm>
            <a:off x="594360" y="1143000"/>
            <a:ext cx="3520440" cy="14173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43.4 GW
</a:t>
            </a:r>
            <a:pPr algn="ctr" indent="0" marL="0">
              <a:buNone/>
            </a:pPr>
            <a:r>
              <a:rPr lang="en-US" sz="1050" b="1" dirty="0">
                <a:solidFill>
                  <a:srgbClr val="F8FAFC"/>
                </a:solidFill>
              </a:rPr>
              <a:t>utility-scale solar planned for 2026
</a:t>
            </a:r>
            <a:pPr algn="ctr" indent="0" marL="0">
              <a:buNone/>
            </a:pPr>
            <a:r>
              <a:rPr lang="en-US" sz="850" dirty="0">
                <a:solidFill>
                  <a:srgbClr val="B8C5D6"/>
                </a:solidFill>
              </a:rPr>
              <a:t>Solar represents 51% of planned new U.S. generating capacity</a:t>
            </a:r>
            <a:endParaRPr lang="en-US" sz="2600" dirty="0"/>
          </a:p>
        </p:txBody>
      </p:sp>
      <p:sp>
        <p:nvSpPr>
          <p:cNvPr id="8" name="Text 4"/>
          <p:cNvSpPr/>
          <p:nvPr/>
        </p:nvSpPr>
        <p:spPr>
          <a:xfrm>
            <a:off x="4370832" y="1143000"/>
            <a:ext cx="3520440" cy="14173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$369B
</a:t>
            </a:r>
            <a:pPr algn="ctr" indent="0" marL="0">
              <a:buNone/>
            </a:pPr>
            <a:r>
              <a:rPr lang="en-US" sz="1050" b="1" dirty="0">
                <a:solidFill>
                  <a:srgbClr val="F8FAFC"/>
                </a:solidFill>
              </a:rPr>
              <a:t>IRA clean energy incentives
</a:t>
            </a:r>
            <a:pPr algn="ctr" indent="0" marL="0">
              <a:buNone/>
            </a:pPr>
            <a:r>
              <a:rPr lang="en-US" sz="850" dirty="0">
                <a:solidFill>
                  <a:srgbClr val="B8C5D6"/>
                </a:solidFill>
              </a:rPr>
              <a:t>Federal tailwinds continue to push solar, storage, and infrastructure</a:t>
            </a:r>
            <a:endParaRPr lang="en-US" sz="2600" dirty="0"/>
          </a:p>
        </p:txBody>
      </p:sp>
      <p:sp>
        <p:nvSpPr>
          <p:cNvPr id="9" name="Text 5"/>
          <p:cNvSpPr/>
          <p:nvPr/>
        </p:nvSpPr>
        <p:spPr>
          <a:xfrm>
            <a:off x="8156448" y="1143000"/>
            <a:ext cx="3520440" cy="14173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AI-ready
</a:t>
            </a:r>
            <a:pPr algn="ctr" indent="0" marL="0">
              <a:buNone/>
            </a:pPr>
            <a:r>
              <a:rPr lang="en-US" sz="1050" b="1" dirty="0">
                <a:solidFill>
                  <a:srgbClr val="F8FAFC"/>
                </a:solidFill>
              </a:rPr>
              <a:t>documents, drawings, photos, and specs
</a:t>
            </a:r>
            <a:pPr algn="ctr" indent="0" marL="0">
              <a:buNone/>
            </a:pPr>
            <a:r>
              <a:rPr lang="en-US" sz="850" dirty="0">
                <a:solidFill>
                  <a:srgbClr val="B8C5D6"/>
                </a:solidFill>
              </a:rPr>
              <a:t>Production-grade document intelligence makes EPC automation possible now</a:t>
            </a:r>
            <a:endParaRPr lang="en-US" sz="2600" dirty="0"/>
          </a:p>
        </p:txBody>
      </p:sp>
      <p:sp>
        <p:nvSpPr>
          <p:cNvPr id="10" name="Text 6"/>
          <p:cNvSpPr/>
          <p:nvPr/>
        </p:nvSpPr>
        <p:spPr>
          <a:xfrm>
            <a:off x="777240" y="2971800"/>
            <a:ext cx="3154680" cy="22860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Market pressure
</a:t>
            </a:r>
            <a:pPr indent="0" marL="0">
              <a:buNone/>
            </a:pPr>
            <a:r>
              <a:rPr lang="en-US" sz="1080" dirty="0">
                <a:solidFill>
                  <a:srgbClr val="F8FAFC"/>
                </a:solidFill>
                <a:latin typeface="Aptos" pitchFamily="34" charset="0"/>
                <a:ea typeface="Aptos" pitchFamily="34" charset="-122"/>
                <a:cs typeface="Aptos" pitchFamily="34" charset="-120"/>
              </a:rPr>
              <a:t>EPC teams are taking on more megawatts, faster COD timelines, and larger LD exposure while managing fragmented field systems.</a:t>
            </a:r>
            <a:endParaRPr lang="en-US" sz="1500" dirty="0"/>
          </a:p>
        </p:txBody>
      </p:sp>
      <p:sp>
        <p:nvSpPr>
          <p:cNvPr id="11" name="Text 7"/>
          <p:cNvSpPr/>
          <p:nvPr/>
        </p:nvSpPr>
        <p:spPr>
          <a:xfrm>
            <a:off x="4498848" y="2971800"/>
            <a:ext cx="3154680" cy="22860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Technical shift
</a:t>
            </a:r>
            <a:pPr indent="0" marL="0">
              <a:buNone/>
            </a:pPr>
            <a:r>
              <a:rPr lang="en-US" sz="1080" dirty="0">
                <a:solidFill>
                  <a:srgbClr val="F8FAFC"/>
                </a:solidFill>
                <a:latin typeface="Aptos" pitchFamily="34" charset="0"/>
                <a:ea typeface="Aptos" pitchFamily="34" charset="-122"/>
                <a:cs typeface="Aptos" pitchFamily="34" charset="-120"/>
              </a:rPr>
              <a:t>Modern AI can parse contracts, BOMs, drawings, specs, photos, and closeout documents into structured workflows.</a:t>
            </a:r>
            <a:endParaRPr lang="en-US" sz="1500" dirty="0"/>
          </a:p>
        </p:txBody>
      </p:sp>
      <p:sp>
        <p:nvSpPr>
          <p:cNvPr id="12" name="Text 8"/>
          <p:cNvSpPr/>
          <p:nvPr/>
        </p:nvSpPr>
        <p:spPr>
          <a:xfrm>
            <a:off x="8211312" y="2971800"/>
            <a:ext cx="3154680" cy="22860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Timing window
</a:t>
            </a:r>
            <a:pPr indent="0" marL="0">
              <a:buNone/>
            </a:pPr>
            <a:r>
              <a:rPr lang="en-US" sz="1080" dirty="0">
                <a:solidFill>
                  <a:srgbClr val="F8FAFC"/>
                </a:solidFill>
                <a:latin typeface="Aptos" pitchFamily="34" charset="0"/>
                <a:ea typeface="Aptos" pitchFamily="34" charset="-122"/>
                <a:cs typeface="Aptos" pitchFamily="34" charset="-120"/>
              </a:rPr>
              <a:t>Generic platforms are horizontal. Solar EPC teams now need vertical field intelligence built around their project realities.</a:t>
            </a:r>
            <a:endParaRPr lang="en-US" sz="1500" dirty="0"/>
          </a:p>
        </p:txBody>
      </p:sp>
      <p:sp>
        <p:nvSpPr>
          <p:cNvPr id="13" name="Text 9"/>
          <p:cNvSpPr/>
          <p:nvPr/>
        </p:nvSpPr>
        <p:spPr>
          <a:xfrm>
            <a:off x="914400" y="5650992"/>
            <a:ext cx="10332720" cy="347472"/>
          </a:xfrm>
          <a:prstGeom prst="rect">
            <a:avLst/>
          </a:prstGeom>
          <a:noFill/>
          <a:ln/>
        </p:spPr>
        <p:txBody>
          <a:bodyPr wrap="square" lIns="0" tIns="0" rIns="0" bIns="0" rtlCol="0" anchor="ctr">
            <a:normAutofit/>
          </a:bodyPr>
          <a:lstStyle/>
          <a:p>
            <a:pPr algn="ctr" indent="0" marL="0">
              <a:buNone/>
            </a:pPr>
            <a:r>
              <a:rPr lang="en-US" sz="1700" b="1" dirty="0">
                <a:solidFill>
                  <a:srgbClr val="FBBF24"/>
                </a:solidFill>
              </a:rPr>
              <a:t>Meridian exists because the market is scaling faster than the tools solar teams use to manage it.</a:t>
            </a:r>
            <a:endParaRPr lang="en-US" sz="1700" dirty="0"/>
          </a:p>
        </p:txBody>
      </p:sp>
      <p:sp>
        <p:nvSpPr>
          <p:cNvPr id="14" name="Text 10"/>
          <p:cNvSpPr/>
          <p:nvPr/>
        </p:nvSpPr>
        <p:spPr>
          <a:xfrm>
            <a:off x="347472" y="6547104"/>
            <a:ext cx="9601200" cy="146304"/>
          </a:xfrm>
          <a:prstGeom prst="rect">
            <a:avLst/>
          </a:prstGeom>
          <a:noFill/>
          <a:ln/>
        </p:spPr>
        <p:txBody>
          <a:bodyPr wrap="square" lIns="0" tIns="0" rIns="0" bIns="0" rtlCol="0" anchor="ctr">
            <a:normAutofit/>
          </a:bodyPr>
          <a:lstStyle/>
          <a:p>
            <a:pPr indent="0" marL="0">
              <a:buNone/>
            </a:pPr>
            <a:r>
              <a:rPr lang="en-US" sz="660" dirty="0">
                <a:solidFill>
                  <a:srgbClr val="7D8EA3"/>
                </a:solidFill>
              </a:rPr>
              <a:t>Sources: U.S. EIA planned 2026 capacity additions; IRA investment incentives public summaries; company analysis.</a:t>
            </a:r>
            <a:endParaRPr lang="en-US" sz="6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82D"/>
        </a:solidFill>
      </p:bgPr>
    </p:bg>
    <p:spTree>
      <p:nvGrpSpPr>
        <p:cNvPr id="1" name=""/>
        <p:cNvGrpSpPr/>
        <p:nvPr/>
      </p:nvGrpSpPr>
      <p:grpSpPr>
        <a:xfrm>
          <a:off x="0" y="0"/>
          <a:ext cx="0" cy="0"/>
          <a:chOff x="0" y="0"/>
          <a:chExt cx="0" cy="0"/>
        </a:xfrm>
      </p:grpSpPr>
      <p:pic>
        <p:nvPicPr>
          <p:cNvPr id="2" name="Image 0" descr="/mnt/data/chaos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Disconnected tools are creating preventable risk for solar EPC teams</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03</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sp>
        <p:nvSpPr>
          <p:cNvPr id="7" name="Text 3"/>
          <p:cNvSpPr/>
          <p:nvPr/>
        </p:nvSpPr>
        <p:spPr>
          <a:xfrm>
            <a:off x="731520" y="1033272"/>
            <a:ext cx="10789920" cy="420624"/>
          </a:xfrm>
          <a:prstGeom prst="rect">
            <a:avLst/>
          </a:prstGeom>
          <a:noFill/>
          <a:ln/>
        </p:spPr>
        <p:txBody>
          <a:bodyPr wrap="square" lIns="254" tIns="254" rIns="254" bIns="254" rtlCol="0" anchor="ctr">
            <a:normAutofit/>
          </a:bodyPr>
          <a:lstStyle/>
          <a:p>
            <a:pPr algn="ctr" indent="0" marL="0">
              <a:buNone/>
            </a:pPr>
            <a:r>
              <a:rPr lang="en-US" sz="1600" dirty="0">
                <a:solidFill>
                  <a:srgbClr val="F8FAFC"/>
                </a:solidFill>
              </a:rPr>
              <a:t>Solar EPC contractors are still managing high-value construction risk with spreadsheets, email, manual inspections, and scattered field photos.</a:t>
            </a:r>
            <a:endParaRPr lang="en-US" sz="1600" dirty="0"/>
          </a:p>
        </p:txBody>
      </p:sp>
      <p:sp>
        <p:nvSpPr>
          <p:cNvPr id="8" name="Text 4"/>
          <p:cNvSpPr/>
          <p:nvPr/>
        </p:nvSpPr>
        <p:spPr>
          <a:xfrm>
            <a:off x="594360" y="1783080"/>
            <a:ext cx="269748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$750K LD exposure
</a:t>
            </a:r>
            <a:pPr indent="0" marL="0">
              <a:buNone/>
            </a:pPr>
            <a:r>
              <a:rPr lang="en-US" sz="1220" dirty="0">
                <a:solidFill>
                  <a:srgbClr val="F8FAFC"/>
                </a:solidFill>
                <a:latin typeface="Aptos" pitchFamily="34" charset="0"/>
                <a:ea typeface="Aptos" pitchFamily="34" charset="-122"/>
                <a:cs typeface="Aptos" pitchFamily="34" charset="-120"/>
              </a:rPr>
              <a:t>Manual schedules miss COD dates by weeks. $5K-$15K/day penalties add up fast.</a:t>
            </a:r>
            <a:endParaRPr lang="en-US" sz="1800" dirty="0"/>
          </a:p>
        </p:txBody>
      </p:sp>
      <p:sp>
        <p:nvSpPr>
          <p:cNvPr id="9" name="Text 5"/>
          <p:cNvSpPr/>
          <p:nvPr/>
        </p:nvSpPr>
        <p:spPr>
          <a:xfrm>
            <a:off x="3520440" y="1783080"/>
            <a:ext cx="269748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40-60 hours
</a:t>
            </a:r>
            <a:pPr indent="0" marL="0">
              <a:buNone/>
            </a:pPr>
            <a:r>
              <a:rPr lang="en-US" sz="1220" dirty="0">
                <a:solidFill>
                  <a:srgbClr val="F8FAFC"/>
                </a:solidFill>
                <a:latin typeface="Aptos" pitchFamily="34" charset="0"/>
                <a:ea typeface="Aptos" pitchFamily="34" charset="-122"/>
                <a:cs typeface="Aptos" pitchFamily="34" charset="-120"/>
              </a:rPr>
              <a:t>PMs rebuild schedules in P6 or Excel. Every NTP delay cascades through the timeline.</a:t>
            </a:r>
            <a:endParaRPr lang="en-US" sz="1800" dirty="0"/>
          </a:p>
        </p:txBody>
      </p:sp>
      <p:sp>
        <p:nvSpPr>
          <p:cNvPr id="10" name="Text 6"/>
          <p:cNvSpPr/>
          <p:nvPr/>
        </p:nvSpPr>
        <p:spPr>
          <a:xfrm>
            <a:off x="6446520" y="1783080"/>
            <a:ext cx="269748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Quality chaos
</a:t>
            </a:r>
            <a:pPr indent="0" marL="0">
              <a:buNone/>
            </a:pPr>
            <a:r>
              <a:rPr lang="en-US" sz="1150" dirty="0">
                <a:solidFill>
                  <a:srgbClr val="F8FAFC"/>
                </a:solidFill>
                <a:latin typeface="Aptos" pitchFamily="34" charset="0"/>
                <a:ea typeface="Aptos" pitchFamily="34" charset="-122"/>
                <a:cs typeface="Aptos" pitchFamily="34" charset="-120"/>
              </a:rPr>
              <a:t>Inspection templates are rebuilt from scratch while specs, drawings, and torque values are cross-referenced manually.</a:t>
            </a:r>
            <a:endParaRPr lang="en-US" sz="1800" dirty="0"/>
          </a:p>
        </p:txBody>
      </p:sp>
      <p:sp>
        <p:nvSpPr>
          <p:cNvPr id="11" name="Text 7"/>
          <p:cNvSpPr/>
          <p:nvPr/>
        </p:nvSpPr>
        <p:spPr>
          <a:xfrm>
            <a:off x="9372600" y="1783080"/>
            <a:ext cx="224028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Document sprawl
</a:t>
            </a:r>
            <a:pPr indent="0" marL="0">
              <a:buNone/>
            </a:pPr>
            <a:r>
              <a:rPr lang="en-US" sz="1130" dirty="0">
                <a:solidFill>
                  <a:srgbClr val="F8FAFC"/>
                </a:solidFill>
                <a:latin typeface="Aptos" pitchFamily="34" charset="0"/>
                <a:ea typeface="Aptos" pitchFamily="34" charset="-122"/>
                <a:cs typeface="Aptos" pitchFamily="34" charset="-120"/>
              </a:rPr>
              <a:t>RFIs in email. Photos in phones. Punch lists in Excel. Closeout scattered everywhere.</a:t>
            </a:r>
            <a:endParaRPr lang="en-US" sz="1800" dirty="0"/>
          </a:p>
        </p:txBody>
      </p:sp>
      <p:sp>
        <p:nvSpPr>
          <p:cNvPr id="12" name="Text 8"/>
          <p:cNvSpPr/>
          <p:nvPr/>
        </p:nvSpPr>
        <p:spPr>
          <a:xfrm>
            <a:off x="914400" y="4983480"/>
            <a:ext cx="10378440" cy="411480"/>
          </a:xfrm>
          <a:prstGeom prst="rect">
            <a:avLst/>
          </a:prstGeom>
          <a:noFill/>
          <a:ln/>
        </p:spPr>
        <p:txBody>
          <a:bodyPr wrap="square" lIns="254" tIns="254" rIns="254" bIns="254" rtlCol="0" anchor="ctr">
            <a:normAutofit/>
          </a:bodyPr>
          <a:lstStyle/>
          <a:p>
            <a:pPr algn="ctr" indent="0" marL="0">
              <a:buNone/>
            </a:pPr>
            <a:r>
              <a:rPr lang="en-US" sz="1800" b="1" dirty="0">
                <a:solidFill>
                  <a:srgbClr val="FBBF24"/>
                </a:solidFill>
              </a:rPr>
              <a:t>The status quo is not one competitor - it is the messy combination of 4-6 disconnected systems.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82D"/>
        </a:solidFill>
      </p:bgPr>
    </p:bg>
    <p:spTree>
      <p:nvGrpSpPr>
        <p:cNvPr id="1" name=""/>
        <p:cNvGrpSpPr/>
        <p:nvPr/>
      </p:nvGrpSpPr>
      <p:grpSpPr>
        <a:xfrm>
          <a:off x="0" y="0"/>
          <a:ext cx="0" cy="0"/>
          <a:chOff x="0" y="0"/>
          <a:chExt cx="0" cy="0"/>
        </a:xfrm>
      </p:grpSpPr>
      <p:pic>
        <p:nvPicPr>
          <p:cNvPr id="2" name="Image 0" descr="/mnt/data/tablet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One field command system - plus AI products that create expansion revenue</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04</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sp>
        <p:nvSpPr>
          <p:cNvPr id="7" name="Text 3"/>
          <p:cNvSpPr/>
          <p:nvPr/>
        </p:nvSpPr>
        <p:spPr>
          <a:xfrm>
            <a:off x="685800" y="1005840"/>
            <a:ext cx="10881360" cy="438912"/>
          </a:xfrm>
          <a:prstGeom prst="rect">
            <a:avLst/>
          </a:prstGeom>
          <a:noFill/>
          <a:ln/>
        </p:spPr>
        <p:txBody>
          <a:bodyPr wrap="square" lIns="254" tIns="254" rIns="254" bIns="254" rtlCol="0" anchor="ctr">
            <a:normAutofit/>
          </a:bodyPr>
          <a:lstStyle/>
          <a:p>
            <a:pPr algn="ctr" indent="0" marL="0">
              <a:buNone/>
            </a:pPr>
            <a:r>
              <a:rPr lang="en-US" sz="1550" dirty="0">
                <a:solidFill>
                  <a:srgbClr val="F8FAFC"/>
                </a:solidFill>
              </a:rPr>
              <a:t>Meridian Field Command centralizes solar EPC execution from NTP through closeout, with standalone AI tools that can also power premium modules inside the platform.</a:t>
            </a:r>
            <a:endParaRPr lang="en-US" sz="1550" dirty="0"/>
          </a:p>
        </p:txBody>
      </p:sp>
      <p:sp>
        <p:nvSpPr>
          <p:cNvPr id="8" name="Text 4"/>
          <p:cNvSpPr/>
          <p:nvPr/>
        </p:nvSpPr>
        <p:spPr>
          <a:xfrm>
            <a:off x="621792" y="1783080"/>
            <a:ext cx="2743200" cy="9601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400" b="1" dirty="0">
                <a:solidFill>
                  <a:srgbClr val="FBBF24"/>
                </a:solidFill>
              </a:rPr>
              <a:t>$10K/mo
</a:t>
            </a:r>
            <a:pPr algn="ctr" indent="0" marL="0">
              <a:buNone/>
            </a:pPr>
            <a:r>
              <a:rPr lang="en-US" sz="1050" b="1" dirty="0">
                <a:solidFill>
                  <a:srgbClr val="F8FAFC"/>
                </a:solidFill>
              </a:rPr>
              <a:t>base platform
</a:t>
            </a:r>
            <a:pPr algn="ctr" indent="0" marL="0">
              <a:buNone/>
            </a:pPr>
            <a:r>
              <a:rPr lang="en-US" sz="850" dirty="0">
                <a:solidFill>
                  <a:srgbClr val="B8C5D6"/>
                </a:solidFill>
              </a:rPr>
              <a:t>18-module field hub</a:t>
            </a:r>
            <a:endParaRPr lang="en-US" sz="2400" dirty="0"/>
          </a:p>
        </p:txBody>
      </p:sp>
      <p:sp>
        <p:nvSpPr>
          <p:cNvPr id="9" name="Text 5"/>
          <p:cNvSpPr/>
          <p:nvPr/>
        </p:nvSpPr>
        <p:spPr>
          <a:xfrm>
            <a:off x="3593592" y="1783080"/>
            <a:ext cx="2743200" cy="9601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400" b="1" dirty="0">
                <a:solidFill>
                  <a:srgbClr val="FBBF24"/>
                </a:solidFill>
              </a:rPr>
              <a:t>+$2K/mo
</a:t>
            </a:r>
            <a:pPr algn="ctr" indent="0" marL="0">
              <a:buNone/>
            </a:pPr>
            <a:r>
              <a:rPr lang="en-US" sz="1050" b="1" dirty="0">
                <a:solidFill>
                  <a:srgbClr val="F8FAFC"/>
                </a:solidFill>
              </a:rPr>
              <a:t>Build Planner AI
</a:t>
            </a:r>
            <a:pPr algn="ctr" indent="0" marL="0">
              <a:buNone/>
            </a:pPr>
            <a:r>
              <a:rPr lang="en-US" sz="850" dirty="0">
                <a:solidFill>
                  <a:srgbClr val="B8C5D6"/>
                </a:solidFill>
              </a:rPr>
              <a:t>powered by BuildIQ</a:t>
            </a:r>
            <a:endParaRPr lang="en-US" sz="2400" dirty="0"/>
          </a:p>
        </p:txBody>
      </p:sp>
      <p:sp>
        <p:nvSpPr>
          <p:cNvPr id="10" name="Text 6"/>
          <p:cNvSpPr/>
          <p:nvPr/>
        </p:nvSpPr>
        <p:spPr>
          <a:xfrm>
            <a:off x="6565392" y="1783080"/>
            <a:ext cx="2743200" cy="9601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400" b="1" dirty="0">
                <a:solidFill>
                  <a:srgbClr val="FBBF24"/>
                </a:solidFill>
              </a:rPr>
              <a:t>+$2K/mo
</a:t>
            </a:r>
            <a:pPr algn="ctr" indent="0" marL="0">
              <a:buNone/>
            </a:pPr>
            <a:r>
              <a:rPr lang="en-US" sz="1050" b="1" dirty="0">
                <a:solidFill>
                  <a:srgbClr val="F8FAFC"/>
                </a:solidFill>
              </a:rPr>
              <a:t>Quality AI Premium
</a:t>
            </a:r>
            <a:pPr algn="ctr" indent="0" marL="0">
              <a:buNone/>
            </a:pPr>
            <a:r>
              <a:rPr lang="en-US" sz="850" dirty="0">
                <a:solidFill>
                  <a:srgbClr val="B8C5D6"/>
                </a:solidFill>
              </a:rPr>
              <a:t>powered by InspectionIQ</a:t>
            </a:r>
            <a:endParaRPr lang="en-US" sz="2400" dirty="0"/>
          </a:p>
        </p:txBody>
      </p:sp>
      <p:sp>
        <p:nvSpPr>
          <p:cNvPr id="11" name="Text 7"/>
          <p:cNvSpPr/>
          <p:nvPr/>
        </p:nvSpPr>
        <p:spPr>
          <a:xfrm>
            <a:off x="9537192" y="1783080"/>
            <a:ext cx="2057400" cy="96012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000" b="1" dirty="0">
                <a:solidFill>
                  <a:srgbClr val="FBBF24"/>
                </a:solidFill>
              </a:rPr>
              <a:t>Standalone
</a:t>
            </a:r>
            <a:pPr algn="ctr" indent="0" marL="0">
              <a:buNone/>
            </a:pPr>
            <a:r>
              <a:rPr lang="en-US" sz="1050" b="1" dirty="0">
                <a:solidFill>
                  <a:srgbClr val="F8FAFC"/>
                </a:solidFill>
              </a:rPr>
              <a:t>AI products
</a:t>
            </a:r>
            <a:pPr algn="ctr" indent="0" marL="0">
              <a:buNone/>
            </a:pPr>
            <a:r>
              <a:rPr lang="en-US" sz="850" dirty="0">
                <a:solidFill>
                  <a:srgbClr val="B8C5D6"/>
                </a:solidFill>
              </a:rPr>
              <a:t>additional entry points</a:t>
            </a:r>
            <a:endParaRPr lang="en-US" sz="2000" dirty="0"/>
          </a:p>
        </p:txBody>
      </p:sp>
      <p:sp>
        <p:nvSpPr>
          <p:cNvPr id="12" name="Text 8"/>
          <p:cNvSpPr/>
          <p:nvPr/>
        </p:nvSpPr>
        <p:spPr>
          <a:xfrm>
            <a:off x="777240" y="3154680"/>
            <a:ext cx="2514600" cy="14630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Field Command
</a:t>
            </a:r>
            <a:pPr indent="0" marL="0">
              <a:buNone/>
            </a:pPr>
            <a:r>
              <a:rPr lang="en-US" sz="1080" dirty="0">
                <a:solidFill>
                  <a:srgbClr val="F8FAFC"/>
                </a:solidFill>
                <a:latin typeface="Aptos" pitchFamily="34" charset="0"/>
                <a:ea typeface="Aptos" pitchFamily="34" charset="-122"/>
                <a:cs typeface="Aptos" pitchFamily="34" charset="-120"/>
              </a:rPr>
              <a:t>Central hub for project controls, QA/QC, RFIs, documents, materials, photos, safety, analytics.</a:t>
            </a:r>
            <a:endParaRPr lang="en-US" sz="1500" dirty="0"/>
          </a:p>
        </p:txBody>
      </p:sp>
      <p:sp>
        <p:nvSpPr>
          <p:cNvPr id="13" name="Text 9"/>
          <p:cNvSpPr/>
          <p:nvPr/>
        </p:nvSpPr>
        <p:spPr>
          <a:xfrm>
            <a:off x="3474720" y="3154680"/>
            <a:ext cx="2514600" cy="14630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BuildIQ
</a:t>
            </a:r>
            <a:pPr indent="0" marL="0">
              <a:buNone/>
            </a:pPr>
            <a:r>
              <a:rPr lang="en-US" sz="1080" dirty="0">
                <a:solidFill>
                  <a:srgbClr val="F8FAFC"/>
                </a:solidFill>
                <a:latin typeface="Aptos" pitchFamily="34" charset="0"/>
                <a:ea typeface="Aptos" pitchFamily="34" charset="-122"/>
                <a:cs typeface="Aptos" pitchFamily="34" charset="-120"/>
              </a:rPr>
              <a:t>AI planning: drawings/BOM/contract to schedule, cost forecast, and LD risk.</a:t>
            </a:r>
            <a:endParaRPr lang="en-US" sz="1500" dirty="0"/>
          </a:p>
        </p:txBody>
      </p:sp>
      <p:sp>
        <p:nvSpPr>
          <p:cNvPr id="14" name="Text 10"/>
          <p:cNvSpPr/>
          <p:nvPr/>
        </p:nvSpPr>
        <p:spPr>
          <a:xfrm>
            <a:off x="6172200" y="3154680"/>
            <a:ext cx="2514600" cy="14630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InspectionIQ
</a:t>
            </a:r>
            <a:pPr indent="0" marL="0">
              <a:buNone/>
            </a:pPr>
            <a:r>
              <a:rPr lang="en-US" sz="1080" dirty="0">
                <a:solidFill>
                  <a:srgbClr val="F8FAFC"/>
                </a:solidFill>
                <a:latin typeface="Aptos" pitchFamily="34" charset="0"/>
                <a:ea typeface="Aptos" pitchFamily="34" charset="-122"/>
                <a:cs typeface="Aptos" pitchFamily="34" charset="-120"/>
              </a:rPr>
              <a:t>AI inspection templates: specs/drawings to torque values, embedments, and checks.</a:t>
            </a:r>
            <a:endParaRPr lang="en-US" sz="1500" dirty="0"/>
          </a:p>
        </p:txBody>
      </p:sp>
      <p:sp>
        <p:nvSpPr>
          <p:cNvPr id="15" name="Text 11"/>
          <p:cNvSpPr/>
          <p:nvPr/>
        </p:nvSpPr>
        <p:spPr>
          <a:xfrm>
            <a:off x="8869680" y="3154680"/>
            <a:ext cx="2514600" cy="14630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CloseoutIQ + SiteIQ
</a:t>
            </a:r>
            <a:pPr indent="0" marL="0">
              <a:buNone/>
            </a:pPr>
            <a:r>
              <a:rPr lang="en-US" sz="1080" dirty="0">
                <a:solidFill>
                  <a:srgbClr val="F8FAFC"/>
                </a:solidFill>
                <a:latin typeface="Aptos" pitchFamily="34" charset="0"/>
                <a:ea typeface="Aptos" pitchFamily="34" charset="-122"/>
                <a:cs typeface="Aptos" pitchFamily="34" charset="-120"/>
              </a:rPr>
              <a:t>OCR closeout automation and photo analysis that syncs back to the command center.</a:t>
            </a:r>
            <a:endParaRPr lang="en-US" sz="1500" dirty="0"/>
          </a:p>
        </p:txBody>
      </p:sp>
      <p:sp>
        <p:nvSpPr>
          <p:cNvPr id="16" name="Text 12"/>
          <p:cNvSpPr/>
          <p:nvPr/>
        </p:nvSpPr>
        <p:spPr>
          <a:xfrm>
            <a:off x="1051560" y="5596128"/>
            <a:ext cx="10149840" cy="365760"/>
          </a:xfrm>
          <a:prstGeom prst="rect">
            <a:avLst/>
          </a:prstGeom>
          <a:noFill/>
          <a:ln/>
        </p:spPr>
        <p:txBody>
          <a:bodyPr wrap="square" lIns="254" tIns="254" rIns="254" bIns="254" rtlCol="0" anchor="ctr">
            <a:normAutofit/>
          </a:bodyPr>
          <a:lstStyle/>
          <a:p>
            <a:pPr algn="ctr" indent="0" marL="0">
              <a:buNone/>
            </a:pPr>
            <a:r>
              <a:rPr lang="en-US" sz="1650" b="1" dirty="0">
                <a:solidFill>
                  <a:srgbClr val="FBBF24"/>
                </a:solidFill>
              </a:rPr>
              <a:t>The wedge is solar EPC. The larger ambition is AI-powered field execution for complex construction.</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18 modules are built around the way solar projects actually run</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05</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777240" y="960120"/>
            <a:ext cx="10698480" cy="347472"/>
          </a:xfrm>
          <a:prstGeom prst="rect">
            <a:avLst/>
          </a:prstGeom>
          <a:noFill/>
          <a:ln/>
        </p:spPr>
        <p:txBody>
          <a:bodyPr wrap="square" lIns="254" tIns="254" rIns="254" bIns="254" rtlCol="0" anchor="ctr"/>
          <a:lstStyle/>
          <a:p>
            <a:pPr algn="ctr" indent="0" marL="0">
              <a:buNone/>
            </a:pPr>
            <a:r>
              <a:rPr lang="en-US" sz="1450" dirty="0">
                <a:solidFill>
                  <a:srgbClr val="B8C5D6"/>
                </a:solidFill>
              </a:rPr>
              <a:t>A purpose-built operating system for field teams, project managers, quality leaders, and executives managing solar construction risk.</a:t>
            </a:r>
            <a:endParaRPr lang="en-US" sz="1450" dirty="0"/>
          </a:p>
        </p:txBody>
      </p:sp>
      <p:sp>
        <p:nvSpPr>
          <p:cNvPr id="7" name="Text 4"/>
          <p:cNvSpPr/>
          <p:nvPr/>
        </p:nvSpPr>
        <p:spPr>
          <a:xfrm>
            <a:off x="594360" y="1600200"/>
            <a:ext cx="2560320" cy="237744"/>
          </a:xfrm>
          <a:prstGeom prst="rect">
            <a:avLst/>
          </a:prstGeom>
          <a:solidFill>
            <a:srgbClr val="F59E0B"/>
          </a:solidFill>
          <a:ln/>
        </p:spPr>
        <p:txBody>
          <a:bodyPr wrap="square" lIns="0" tIns="0" rIns="0" bIns="0" rtlCol="0" anchor="ctr"/>
          <a:lstStyle/>
          <a:p>
            <a:pPr algn="ctr" indent="0" marL="0">
              <a:buNone/>
            </a:pPr>
            <a:r>
              <a:rPr lang="en-US" sz="1000" b="1" dirty="0">
                <a:solidFill>
                  <a:srgbClr val="07182D"/>
                </a:solidFill>
              </a:rPr>
              <a:t>PLAN</a:t>
            </a:r>
            <a:endParaRPr lang="en-US" sz="1000" dirty="0"/>
          </a:p>
        </p:txBody>
      </p:sp>
      <p:sp>
        <p:nvSpPr>
          <p:cNvPr id="8" name="Text 5"/>
          <p:cNvSpPr/>
          <p:nvPr/>
        </p:nvSpPr>
        <p:spPr>
          <a:xfrm>
            <a:off x="594360" y="1993392"/>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b="1" dirty="0">
                <a:solidFill>
                  <a:srgbClr val="F8FAFC"/>
                </a:solidFill>
              </a:rPr>
              <a:t>Build Planner</a:t>
            </a:r>
            <a:endParaRPr lang="en-US" sz="1250" dirty="0"/>
          </a:p>
        </p:txBody>
      </p:sp>
      <p:sp>
        <p:nvSpPr>
          <p:cNvPr id="9" name="Text 6"/>
          <p:cNvSpPr/>
          <p:nvPr/>
        </p:nvSpPr>
        <p:spPr>
          <a:xfrm>
            <a:off x="594360" y="2560320"/>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Contracts</a:t>
            </a:r>
            <a:endParaRPr lang="en-US" sz="1250" dirty="0"/>
          </a:p>
        </p:txBody>
      </p:sp>
      <p:sp>
        <p:nvSpPr>
          <p:cNvPr id="10" name="Text 7"/>
          <p:cNvSpPr/>
          <p:nvPr/>
        </p:nvSpPr>
        <p:spPr>
          <a:xfrm>
            <a:off x="594360" y="3127248"/>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BOM</a:t>
            </a:r>
            <a:endParaRPr lang="en-US" sz="1250" dirty="0"/>
          </a:p>
        </p:txBody>
      </p:sp>
      <p:sp>
        <p:nvSpPr>
          <p:cNvPr id="11" name="Text 8"/>
          <p:cNvSpPr/>
          <p:nvPr/>
        </p:nvSpPr>
        <p:spPr>
          <a:xfrm>
            <a:off x="594360" y="3694176"/>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Locations</a:t>
            </a:r>
            <a:endParaRPr lang="en-US" sz="1250" dirty="0"/>
          </a:p>
        </p:txBody>
      </p:sp>
      <p:sp>
        <p:nvSpPr>
          <p:cNvPr id="12" name="Text 9"/>
          <p:cNvSpPr/>
          <p:nvPr/>
        </p:nvSpPr>
        <p:spPr>
          <a:xfrm>
            <a:off x="594360" y="4261104"/>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Settings</a:t>
            </a:r>
            <a:endParaRPr lang="en-US" sz="1250" dirty="0"/>
          </a:p>
        </p:txBody>
      </p:sp>
      <p:sp>
        <p:nvSpPr>
          <p:cNvPr id="13" name="Text 10"/>
          <p:cNvSpPr/>
          <p:nvPr/>
        </p:nvSpPr>
        <p:spPr>
          <a:xfrm>
            <a:off x="3493008" y="1600200"/>
            <a:ext cx="2560320" cy="237744"/>
          </a:xfrm>
          <a:prstGeom prst="rect">
            <a:avLst/>
          </a:prstGeom>
          <a:solidFill>
            <a:srgbClr val="F59E0B"/>
          </a:solidFill>
          <a:ln/>
        </p:spPr>
        <p:txBody>
          <a:bodyPr wrap="square" lIns="0" tIns="0" rIns="0" bIns="0" rtlCol="0" anchor="ctr"/>
          <a:lstStyle/>
          <a:p>
            <a:pPr algn="ctr" indent="0" marL="0">
              <a:buNone/>
            </a:pPr>
            <a:r>
              <a:rPr lang="en-US" sz="1000" b="1" dirty="0">
                <a:solidFill>
                  <a:srgbClr val="07182D"/>
                </a:solidFill>
              </a:rPr>
              <a:t>CONTROL</a:t>
            </a:r>
            <a:endParaRPr lang="en-US" sz="1000" dirty="0"/>
          </a:p>
        </p:txBody>
      </p:sp>
      <p:sp>
        <p:nvSpPr>
          <p:cNvPr id="14" name="Text 11"/>
          <p:cNvSpPr/>
          <p:nvPr/>
        </p:nvSpPr>
        <p:spPr>
          <a:xfrm>
            <a:off x="3493008" y="1993392"/>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b="1" dirty="0">
                <a:solidFill>
                  <a:srgbClr val="F8FAFC"/>
                </a:solidFill>
              </a:rPr>
              <a:t>Documents</a:t>
            </a:r>
            <a:endParaRPr lang="en-US" sz="1250" dirty="0"/>
          </a:p>
        </p:txBody>
      </p:sp>
      <p:sp>
        <p:nvSpPr>
          <p:cNvPr id="15" name="Text 12"/>
          <p:cNvSpPr/>
          <p:nvPr/>
        </p:nvSpPr>
        <p:spPr>
          <a:xfrm>
            <a:off x="3493008" y="2560320"/>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RFIs</a:t>
            </a:r>
            <a:endParaRPr lang="en-US" sz="1250" dirty="0"/>
          </a:p>
        </p:txBody>
      </p:sp>
      <p:sp>
        <p:nvSpPr>
          <p:cNvPr id="16" name="Text 13"/>
          <p:cNvSpPr/>
          <p:nvPr/>
        </p:nvSpPr>
        <p:spPr>
          <a:xfrm>
            <a:off x="3493008" y="3127248"/>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Submittals</a:t>
            </a:r>
            <a:endParaRPr lang="en-US" sz="1250" dirty="0"/>
          </a:p>
        </p:txBody>
      </p:sp>
      <p:sp>
        <p:nvSpPr>
          <p:cNvPr id="17" name="Text 14"/>
          <p:cNvSpPr/>
          <p:nvPr/>
        </p:nvSpPr>
        <p:spPr>
          <a:xfrm>
            <a:off x="3493008" y="3694176"/>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Materials</a:t>
            </a:r>
            <a:endParaRPr lang="en-US" sz="1250" dirty="0"/>
          </a:p>
        </p:txBody>
      </p:sp>
      <p:sp>
        <p:nvSpPr>
          <p:cNvPr id="18" name="Text 15"/>
          <p:cNvSpPr/>
          <p:nvPr/>
        </p:nvSpPr>
        <p:spPr>
          <a:xfrm>
            <a:off x="3493008" y="4261104"/>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Analytics</a:t>
            </a:r>
            <a:endParaRPr lang="en-US" sz="1250" dirty="0"/>
          </a:p>
        </p:txBody>
      </p:sp>
      <p:sp>
        <p:nvSpPr>
          <p:cNvPr id="19" name="Text 16"/>
          <p:cNvSpPr/>
          <p:nvPr/>
        </p:nvSpPr>
        <p:spPr>
          <a:xfrm>
            <a:off x="6391656" y="1600200"/>
            <a:ext cx="2560320" cy="237744"/>
          </a:xfrm>
          <a:prstGeom prst="rect">
            <a:avLst/>
          </a:prstGeom>
          <a:solidFill>
            <a:srgbClr val="F59E0B"/>
          </a:solidFill>
          <a:ln/>
        </p:spPr>
        <p:txBody>
          <a:bodyPr wrap="square" lIns="0" tIns="0" rIns="0" bIns="0" rtlCol="0" anchor="ctr"/>
          <a:lstStyle/>
          <a:p>
            <a:pPr algn="ctr" indent="0" marL="0">
              <a:buNone/>
            </a:pPr>
            <a:r>
              <a:rPr lang="en-US" sz="1000" b="1" dirty="0">
                <a:solidFill>
                  <a:srgbClr val="07182D"/>
                </a:solidFill>
              </a:rPr>
              <a:t>EXECUTE</a:t>
            </a:r>
            <a:endParaRPr lang="en-US" sz="1000" dirty="0"/>
          </a:p>
        </p:txBody>
      </p:sp>
      <p:sp>
        <p:nvSpPr>
          <p:cNvPr id="20" name="Text 17"/>
          <p:cNvSpPr/>
          <p:nvPr/>
        </p:nvSpPr>
        <p:spPr>
          <a:xfrm>
            <a:off x="6391656" y="1993392"/>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b="1" dirty="0">
                <a:solidFill>
                  <a:srgbClr val="F8FAFC"/>
                </a:solidFill>
              </a:rPr>
              <a:t>Daily Reports</a:t>
            </a:r>
            <a:endParaRPr lang="en-US" sz="1250" dirty="0"/>
          </a:p>
        </p:txBody>
      </p:sp>
      <p:sp>
        <p:nvSpPr>
          <p:cNvPr id="21" name="Text 18"/>
          <p:cNvSpPr/>
          <p:nvPr/>
        </p:nvSpPr>
        <p:spPr>
          <a:xfrm>
            <a:off x="6391656" y="2560320"/>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Quality/QC</a:t>
            </a:r>
            <a:endParaRPr lang="en-US" sz="1250" dirty="0"/>
          </a:p>
        </p:txBody>
      </p:sp>
      <p:sp>
        <p:nvSpPr>
          <p:cNvPr id="22" name="Text 19"/>
          <p:cNvSpPr/>
          <p:nvPr/>
        </p:nvSpPr>
        <p:spPr>
          <a:xfrm>
            <a:off x="6391656" y="3127248"/>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Observations</a:t>
            </a:r>
            <a:endParaRPr lang="en-US" sz="1250" dirty="0"/>
          </a:p>
        </p:txBody>
      </p:sp>
      <p:sp>
        <p:nvSpPr>
          <p:cNvPr id="23" name="Text 20"/>
          <p:cNvSpPr/>
          <p:nvPr/>
        </p:nvSpPr>
        <p:spPr>
          <a:xfrm>
            <a:off x="6391656" y="3694176"/>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Safety</a:t>
            </a:r>
            <a:endParaRPr lang="en-US" sz="1250" dirty="0"/>
          </a:p>
        </p:txBody>
      </p:sp>
      <p:sp>
        <p:nvSpPr>
          <p:cNvPr id="24" name="Text 21"/>
          <p:cNvSpPr/>
          <p:nvPr/>
        </p:nvSpPr>
        <p:spPr>
          <a:xfrm>
            <a:off x="6391656" y="4261104"/>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Team</a:t>
            </a:r>
            <a:endParaRPr lang="en-US" sz="1250" dirty="0"/>
          </a:p>
        </p:txBody>
      </p:sp>
      <p:sp>
        <p:nvSpPr>
          <p:cNvPr id="25" name="Text 22"/>
          <p:cNvSpPr/>
          <p:nvPr/>
        </p:nvSpPr>
        <p:spPr>
          <a:xfrm>
            <a:off x="9290304" y="1600200"/>
            <a:ext cx="2560320" cy="237744"/>
          </a:xfrm>
          <a:prstGeom prst="rect">
            <a:avLst/>
          </a:prstGeom>
          <a:solidFill>
            <a:srgbClr val="F59E0B"/>
          </a:solidFill>
          <a:ln/>
        </p:spPr>
        <p:txBody>
          <a:bodyPr wrap="square" lIns="0" tIns="0" rIns="0" bIns="0" rtlCol="0" anchor="ctr"/>
          <a:lstStyle/>
          <a:p>
            <a:pPr algn="ctr" indent="0" marL="0">
              <a:buNone/>
            </a:pPr>
            <a:r>
              <a:rPr lang="en-US" sz="1000" b="1" dirty="0">
                <a:solidFill>
                  <a:srgbClr val="07182D"/>
                </a:solidFill>
              </a:rPr>
              <a:t>CLOSEOUT</a:t>
            </a:r>
            <a:endParaRPr lang="en-US" sz="1000" dirty="0"/>
          </a:p>
        </p:txBody>
      </p:sp>
      <p:sp>
        <p:nvSpPr>
          <p:cNvPr id="26" name="Text 23"/>
          <p:cNvSpPr/>
          <p:nvPr/>
        </p:nvSpPr>
        <p:spPr>
          <a:xfrm>
            <a:off x="9290304" y="1993392"/>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b="1" dirty="0">
                <a:solidFill>
                  <a:srgbClr val="F8FAFC"/>
                </a:solidFill>
              </a:rPr>
              <a:t>Punch List</a:t>
            </a:r>
            <a:endParaRPr lang="en-US" sz="1250" dirty="0"/>
          </a:p>
        </p:txBody>
      </p:sp>
      <p:sp>
        <p:nvSpPr>
          <p:cNvPr id="27" name="Text 24"/>
          <p:cNvSpPr/>
          <p:nvPr/>
        </p:nvSpPr>
        <p:spPr>
          <a:xfrm>
            <a:off x="9290304" y="2560320"/>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Corrective Actions</a:t>
            </a:r>
            <a:endParaRPr lang="en-US" sz="1250" dirty="0"/>
          </a:p>
        </p:txBody>
      </p:sp>
      <p:sp>
        <p:nvSpPr>
          <p:cNvPr id="28" name="Text 25"/>
          <p:cNvSpPr/>
          <p:nvPr/>
        </p:nvSpPr>
        <p:spPr>
          <a:xfrm>
            <a:off x="9290304" y="3127248"/>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Photos</a:t>
            </a:r>
            <a:endParaRPr lang="en-US" sz="1250" dirty="0"/>
          </a:p>
        </p:txBody>
      </p:sp>
      <p:sp>
        <p:nvSpPr>
          <p:cNvPr id="29" name="Text 26"/>
          <p:cNvSpPr/>
          <p:nvPr/>
        </p:nvSpPr>
        <p:spPr>
          <a:xfrm>
            <a:off x="9290304" y="3694176"/>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Closeout Docs</a:t>
            </a:r>
            <a:endParaRPr lang="en-US" sz="1250" dirty="0"/>
          </a:p>
        </p:txBody>
      </p:sp>
      <p:sp>
        <p:nvSpPr>
          <p:cNvPr id="30" name="Text 27"/>
          <p:cNvSpPr/>
          <p:nvPr/>
        </p:nvSpPr>
        <p:spPr>
          <a:xfrm>
            <a:off x="9290304" y="4261104"/>
            <a:ext cx="2560320" cy="393192"/>
          </a:xfrm>
          <a:prstGeom prst="rect">
            <a:avLst/>
          </a:prstGeom>
          <a:solidFill>
            <a:srgbClr val="0D223B">
              <a:alpha val="94000"/>
            </a:srgbClr>
          </a:solidFill>
          <a:ln w="12700">
            <a:solidFill>
              <a:srgbClr val="264766">
                <a:alpha val="75000"/>
              </a:srgbClr>
            </a:solidFill>
          </a:ln>
        </p:spPr>
        <p:txBody>
          <a:bodyPr wrap="square" lIns="381" tIns="381" rIns="381" bIns="381" rtlCol="0" anchor="ctr">
            <a:normAutofit/>
          </a:bodyPr>
          <a:lstStyle/>
          <a:p>
            <a:pPr algn="ctr" indent="0" marL="0">
              <a:buNone/>
            </a:pPr>
            <a:r>
              <a:rPr lang="en-US" sz="1250" dirty="0">
                <a:solidFill>
                  <a:srgbClr val="F8FAFC"/>
                </a:solidFill>
              </a:rPr>
              <a:t>Turnover</a:t>
            </a:r>
            <a:endParaRPr lang="en-US" sz="1250" dirty="0"/>
          </a:p>
        </p:txBody>
      </p:sp>
      <p:sp>
        <p:nvSpPr>
          <p:cNvPr id="31" name="Text 28"/>
          <p:cNvSpPr/>
          <p:nvPr/>
        </p:nvSpPr>
        <p:spPr>
          <a:xfrm>
            <a:off x="868680" y="5715000"/>
            <a:ext cx="10469880" cy="320040"/>
          </a:xfrm>
          <a:prstGeom prst="rect">
            <a:avLst/>
          </a:prstGeom>
          <a:noFill/>
          <a:ln/>
        </p:spPr>
        <p:txBody>
          <a:bodyPr wrap="square" lIns="254" tIns="254" rIns="254" bIns="254" rtlCol="0" anchor="ctr"/>
          <a:lstStyle/>
          <a:p>
            <a:pPr algn="ctr" indent="0" marL="0">
              <a:buNone/>
            </a:pPr>
            <a:r>
              <a:rPr lang="en-US" sz="1550" b="1" dirty="0">
                <a:solidFill>
                  <a:srgbClr val="FBBF24"/>
                </a:solidFill>
              </a:rPr>
              <a:t>Solar EPC workflow: NTP -&gt; planning -&gt; field execution -&gt; QA/QC -&gt; punch -&gt; closeout -&gt; turnover</a:t>
            </a:r>
            <a:endParaRPr lang="en-US" sz="1550" dirty="0"/>
          </a:p>
        </p:txBody>
      </p:sp>
      <p:sp>
        <p:nvSpPr>
          <p:cNvPr id="32" name="Text 29"/>
          <p:cNvSpPr/>
          <p:nvPr/>
        </p:nvSpPr>
        <p:spPr>
          <a:xfrm>
            <a:off x="2057400" y="6144768"/>
            <a:ext cx="8046720" cy="210312"/>
          </a:xfrm>
          <a:prstGeom prst="rect">
            <a:avLst/>
          </a:prstGeom>
          <a:noFill/>
          <a:ln/>
        </p:spPr>
        <p:txBody>
          <a:bodyPr wrap="square" lIns="0" tIns="0" rIns="0" bIns="0" rtlCol="0" anchor="ctr"/>
          <a:lstStyle/>
          <a:p>
            <a:pPr algn="ctr" indent="0" marL="0">
              <a:buNone/>
            </a:pPr>
            <a:r>
              <a:rPr lang="en-US" sz="950" dirty="0">
                <a:solidFill>
                  <a:srgbClr val="B8C5D6"/>
                </a:solidFill>
              </a:rPr>
              <a:t>Product status: complete, demo-ready MVP with 18 integrated modules.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82D"/>
        </a:solidFill>
      </p:bgPr>
    </p:bg>
    <p:spTree>
      <p:nvGrpSpPr>
        <p:cNvPr id="1" name=""/>
        <p:cNvGrpSpPr/>
        <p:nvPr/>
      </p:nvGrpSpPr>
      <p:grpSpPr>
        <a:xfrm>
          <a:off x="0" y="0"/>
          <a:ext cx="0" cy="0"/>
          <a:chOff x="0" y="0"/>
          <a:chExt cx="0" cy="0"/>
        </a:xfrm>
      </p:grpSpPr>
      <p:pic>
        <p:nvPicPr>
          <p:cNvPr id="2" name="Image 0" descr="/mnt/data/workspace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AI tools compound into a contractor-specific advantage</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06</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sp>
        <p:nvSpPr>
          <p:cNvPr id="7" name="Text 3"/>
          <p:cNvSpPr/>
          <p:nvPr/>
        </p:nvSpPr>
        <p:spPr>
          <a:xfrm>
            <a:off x="868680" y="987552"/>
            <a:ext cx="10378440" cy="329184"/>
          </a:xfrm>
          <a:prstGeom prst="rect">
            <a:avLst/>
          </a:prstGeom>
          <a:noFill/>
          <a:ln/>
        </p:spPr>
        <p:txBody>
          <a:bodyPr wrap="square" lIns="0" tIns="0" rIns="0" bIns="0" rtlCol="0" anchor="ctr"/>
          <a:lstStyle/>
          <a:p>
            <a:pPr algn="ctr" indent="0" marL="0">
              <a:buNone/>
            </a:pPr>
            <a:r>
              <a:rPr lang="en-US" sz="1450" dirty="0">
                <a:solidFill>
                  <a:srgbClr val="F8FAFC"/>
                </a:solidFill>
              </a:rPr>
              <a:t>Each AI product creates standalone value. Inside Field Command, every use trains a contractor-specific operating model.</a:t>
            </a:r>
            <a:endParaRPr lang="en-US" sz="1450" dirty="0"/>
          </a:p>
        </p:txBody>
      </p:sp>
      <p:sp>
        <p:nvSpPr>
          <p:cNvPr id="8" name="Text 4"/>
          <p:cNvSpPr/>
          <p:nvPr/>
        </p:nvSpPr>
        <p:spPr>
          <a:xfrm>
            <a:off x="685800" y="1600200"/>
            <a:ext cx="2514600" cy="1325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BUILDIQ
</a:t>
            </a:r>
            <a:pPr indent="0" marL="0">
              <a:buNone/>
            </a:pPr>
            <a:r>
              <a:rPr lang="en-US" sz="1080" dirty="0">
                <a:solidFill>
                  <a:srgbClr val="F8FAFC"/>
                </a:solidFill>
                <a:latin typeface="Aptos" pitchFamily="34" charset="0"/>
                <a:ea typeface="Aptos" pitchFamily="34" charset="-122"/>
                <a:cs typeface="Aptos" pitchFamily="34" charset="-120"/>
              </a:rPr>
              <a:t>Planning AI</a:t>
            </a:r>
            <a:endParaRPr lang="en-US" sz="1500" dirty="0"/>
          </a:p>
          <a:p>
            <a:pPr indent="0" marL="0">
              <a:buNone/>
            </a:pPr>
            <a:r>
              <a:rPr lang="en-US" sz="1080" dirty="0">
                <a:solidFill>
                  <a:srgbClr val="F8FAFC"/>
                </a:solidFill>
                <a:latin typeface="Aptos" pitchFamily="34" charset="0"/>
                <a:ea typeface="Aptos" pitchFamily="34" charset="-122"/>
                <a:cs typeface="Aptos" pitchFamily="34" charset="-120"/>
              </a:rPr>
              <a:t>Drawings + BOM + contract -&gt; schedules, forecast, LD risk</a:t>
            </a:r>
            <a:endParaRPr lang="en-US" sz="1500" dirty="0"/>
          </a:p>
        </p:txBody>
      </p:sp>
      <p:sp>
        <p:nvSpPr>
          <p:cNvPr id="9" name="Text 5"/>
          <p:cNvSpPr/>
          <p:nvPr/>
        </p:nvSpPr>
        <p:spPr>
          <a:xfrm>
            <a:off x="3566160" y="1600200"/>
            <a:ext cx="2514600" cy="1325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INSPECTIONIQ
</a:t>
            </a:r>
            <a:pPr indent="0" marL="0">
              <a:buNone/>
            </a:pPr>
            <a:r>
              <a:rPr lang="en-US" sz="1080" dirty="0">
                <a:solidFill>
                  <a:srgbClr val="F8FAFC"/>
                </a:solidFill>
                <a:latin typeface="Aptos" pitchFamily="34" charset="0"/>
                <a:ea typeface="Aptos" pitchFamily="34" charset="-122"/>
                <a:cs typeface="Aptos" pitchFamily="34" charset="-120"/>
              </a:rPr>
              <a:t>Quality AI</a:t>
            </a:r>
            <a:endParaRPr lang="en-US" sz="1500" dirty="0"/>
          </a:p>
          <a:p>
            <a:pPr indent="0" marL="0">
              <a:buNone/>
            </a:pPr>
            <a:r>
              <a:rPr lang="en-US" sz="1080" dirty="0">
                <a:solidFill>
                  <a:srgbClr val="F8FAFC"/>
                </a:solidFill>
                <a:latin typeface="Aptos" pitchFamily="34" charset="0"/>
                <a:ea typeface="Aptos" pitchFamily="34" charset="-122"/>
                <a:cs typeface="Aptos" pitchFamily="34" charset="-120"/>
              </a:rPr>
              <a:t>Specs + drawings -&gt; inspection templates, torque values, embedments</a:t>
            </a:r>
            <a:endParaRPr lang="en-US" sz="1500" dirty="0"/>
          </a:p>
        </p:txBody>
      </p:sp>
      <p:sp>
        <p:nvSpPr>
          <p:cNvPr id="10" name="Text 6"/>
          <p:cNvSpPr/>
          <p:nvPr/>
        </p:nvSpPr>
        <p:spPr>
          <a:xfrm>
            <a:off x="6446520" y="1600200"/>
            <a:ext cx="2514600" cy="1325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SITEIQ
</a:t>
            </a:r>
            <a:pPr indent="0" marL="0">
              <a:buNone/>
            </a:pPr>
            <a:r>
              <a:rPr lang="en-US" sz="1080" dirty="0">
                <a:solidFill>
                  <a:srgbClr val="F8FAFC"/>
                </a:solidFill>
                <a:latin typeface="Aptos" pitchFamily="34" charset="0"/>
                <a:ea typeface="Aptos" pitchFamily="34" charset="-122"/>
                <a:cs typeface="Aptos" pitchFamily="34" charset="-120"/>
              </a:rPr>
              <a:t>Photo AI</a:t>
            </a:r>
            <a:endParaRPr lang="en-US" sz="1500" dirty="0"/>
          </a:p>
          <a:p>
            <a:pPr indent="0" marL="0">
              <a:buNone/>
            </a:pPr>
            <a:r>
              <a:rPr lang="en-US" sz="1080" dirty="0">
                <a:solidFill>
                  <a:srgbClr val="F8FAFC"/>
                </a:solidFill>
                <a:latin typeface="Aptos" pitchFamily="34" charset="0"/>
                <a:ea typeface="Aptos" pitchFamily="34" charset="-122"/>
                <a:cs typeface="Aptos" pitchFamily="34" charset="-120"/>
              </a:rPr>
              <a:t>Field photos -&gt; estimates, issues, site context, progress signals</a:t>
            </a:r>
            <a:endParaRPr lang="en-US" sz="1500" dirty="0"/>
          </a:p>
        </p:txBody>
      </p:sp>
      <p:sp>
        <p:nvSpPr>
          <p:cNvPr id="11" name="Text 7"/>
          <p:cNvSpPr/>
          <p:nvPr/>
        </p:nvSpPr>
        <p:spPr>
          <a:xfrm>
            <a:off x="9326880" y="1600200"/>
            <a:ext cx="2148840" cy="1325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CLOSEOUTIQ
</a:t>
            </a:r>
            <a:pPr indent="0" marL="0">
              <a:buNone/>
            </a:pPr>
            <a:r>
              <a:rPr lang="en-US" sz="1080" dirty="0">
                <a:solidFill>
                  <a:srgbClr val="F8FAFC"/>
                </a:solidFill>
                <a:latin typeface="Aptos" pitchFamily="34" charset="0"/>
                <a:ea typeface="Aptos" pitchFamily="34" charset="-122"/>
                <a:cs typeface="Aptos" pitchFamily="34" charset="-120"/>
              </a:rPr>
              <a:t>OCR AI</a:t>
            </a:r>
            <a:endParaRPr lang="en-US" sz="1500" dirty="0"/>
          </a:p>
          <a:p>
            <a:pPr indent="0" marL="0">
              <a:buNone/>
            </a:pPr>
            <a:r>
              <a:rPr lang="en-US" sz="1080" dirty="0">
                <a:solidFill>
                  <a:srgbClr val="F8FAFC"/>
                </a:solidFill>
                <a:latin typeface="Aptos" pitchFamily="34" charset="0"/>
                <a:ea typeface="Aptos" pitchFamily="34" charset="-122"/>
                <a:cs typeface="Aptos" pitchFamily="34" charset="-120"/>
              </a:rPr>
              <a:t>Closeout docs -&gt; structured turnover records</a:t>
            </a:r>
            <a:endParaRPr lang="en-US" sz="1500" dirty="0"/>
          </a:p>
        </p:txBody>
      </p:sp>
      <p:sp>
        <p:nvSpPr>
          <p:cNvPr id="12" name="Text 8"/>
          <p:cNvSpPr/>
          <p:nvPr/>
        </p:nvSpPr>
        <p:spPr>
          <a:xfrm>
            <a:off x="1828800" y="3520440"/>
            <a:ext cx="8549640" cy="347472"/>
          </a:xfrm>
          <a:prstGeom prst="rect">
            <a:avLst/>
          </a:prstGeom>
          <a:noFill/>
          <a:ln/>
        </p:spPr>
        <p:txBody>
          <a:bodyPr wrap="square" lIns="0" tIns="0" rIns="0" bIns="0" rtlCol="0" anchor="ctr"/>
          <a:lstStyle/>
          <a:p>
            <a:pPr algn="ctr" indent="0" marL="0">
              <a:buNone/>
            </a:pPr>
            <a:r>
              <a:rPr lang="en-US" sz="2100" b="1" dirty="0">
                <a:solidFill>
                  <a:srgbClr val="FBBF24"/>
                </a:solidFill>
              </a:rPr>
              <a:t>PROPRIETARY LEARNING LOOP</a:t>
            </a:r>
            <a:endParaRPr lang="en-US" sz="2100" dirty="0"/>
          </a:p>
        </p:txBody>
      </p:sp>
      <p:sp>
        <p:nvSpPr>
          <p:cNvPr id="13" name="Text 9"/>
          <p:cNvSpPr/>
          <p:nvPr/>
        </p:nvSpPr>
        <p:spPr>
          <a:xfrm>
            <a:off x="1143000" y="3977640"/>
            <a:ext cx="9921240" cy="347472"/>
          </a:xfrm>
          <a:prstGeom prst="rect">
            <a:avLst/>
          </a:prstGeom>
          <a:noFill/>
          <a:ln/>
        </p:spPr>
        <p:txBody>
          <a:bodyPr wrap="square" lIns="254" tIns="254" rIns="254" bIns="254" rtlCol="0" anchor="ctr">
            <a:normAutofit/>
          </a:bodyPr>
          <a:lstStyle/>
          <a:p>
            <a:pPr algn="ctr" indent="0" marL="0">
              <a:buNone/>
            </a:pPr>
            <a:r>
              <a:rPr lang="en-US" sz="1400" dirty="0">
                <a:solidFill>
                  <a:srgbClr val="F8FAFC"/>
                </a:solidFill>
              </a:rPr>
              <a:t>Industry benchmarks -&gt; actual crew productivity -&gt; equipment efficiency -&gt; site conditions -&gt; contractor-specific forecasts</a:t>
            </a:r>
            <a:endParaRPr lang="en-US" sz="1400" dirty="0"/>
          </a:p>
        </p:txBody>
      </p:sp>
      <p:sp>
        <p:nvSpPr>
          <p:cNvPr id="14" name="Text 10"/>
          <p:cNvSpPr/>
          <p:nvPr/>
        </p:nvSpPr>
        <p:spPr>
          <a:xfrm>
            <a:off x="1143000" y="4709160"/>
            <a:ext cx="2834640" cy="8686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250" b="1" dirty="0">
                <a:solidFill>
                  <a:srgbClr val="FBBF24"/>
                </a:solidFill>
                <a:latin typeface="Aptos" pitchFamily="34" charset="0"/>
                <a:ea typeface="Aptos" pitchFamily="34" charset="-122"/>
                <a:cs typeface="Aptos" pitchFamily="34" charset="-120"/>
              </a:rPr>
              <a:t>Project 1
</a:t>
            </a:r>
            <a:pPr indent="0" marL="0">
              <a:buNone/>
            </a:pPr>
            <a:r>
              <a:rPr lang="en-US" sz="970" dirty="0">
                <a:solidFill>
                  <a:srgbClr val="F8FAFC"/>
                </a:solidFill>
                <a:latin typeface="Aptos" pitchFamily="34" charset="0"/>
                <a:ea typeface="Aptos" pitchFamily="34" charset="-122"/>
                <a:cs typeface="Aptos" pitchFamily="34" charset="-120"/>
              </a:rPr>
              <a:t>Starts with industry benchmarks and solar EPC templates.</a:t>
            </a:r>
            <a:endParaRPr lang="en-US" sz="1250" dirty="0"/>
          </a:p>
        </p:txBody>
      </p:sp>
      <p:sp>
        <p:nvSpPr>
          <p:cNvPr id="15" name="Text 11"/>
          <p:cNvSpPr/>
          <p:nvPr/>
        </p:nvSpPr>
        <p:spPr>
          <a:xfrm>
            <a:off x="4681728" y="4709160"/>
            <a:ext cx="2834640" cy="8686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250" b="1" dirty="0">
                <a:solidFill>
                  <a:srgbClr val="FBBF24"/>
                </a:solidFill>
                <a:latin typeface="Aptos" pitchFamily="34" charset="0"/>
                <a:ea typeface="Aptos" pitchFamily="34" charset="-122"/>
                <a:cs typeface="Aptos" pitchFamily="34" charset="-120"/>
              </a:rPr>
              <a:t>Projects 3-5
</a:t>
            </a:r>
            <a:pPr indent="0" marL="0">
              <a:buNone/>
            </a:pPr>
            <a:r>
              <a:rPr lang="en-US" sz="970" dirty="0">
                <a:solidFill>
                  <a:srgbClr val="F8FAFC"/>
                </a:solidFill>
                <a:latin typeface="Aptos" pitchFamily="34" charset="0"/>
                <a:ea typeface="Aptos" pitchFamily="34" charset="-122"/>
                <a:cs typeface="Aptos" pitchFamily="34" charset="-120"/>
              </a:rPr>
              <a:t>Learns each contractor's actual production rates and field patterns.</a:t>
            </a:r>
            <a:endParaRPr lang="en-US" sz="1250" dirty="0"/>
          </a:p>
        </p:txBody>
      </p:sp>
      <p:sp>
        <p:nvSpPr>
          <p:cNvPr id="16" name="Text 12"/>
          <p:cNvSpPr/>
          <p:nvPr/>
        </p:nvSpPr>
        <p:spPr>
          <a:xfrm>
            <a:off x="8211312" y="4709160"/>
            <a:ext cx="2834640" cy="8686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250" b="1" dirty="0">
                <a:solidFill>
                  <a:srgbClr val="FBBF24"/>
                </a:solidFill>
                <a:latin typeface="Aptos" pitchFamily="34" charset="0"/>
                <a:ea typeface="Aptos" pitchFamily="34" charset="-122"/>
                <a:cs typeface="Aptos" pitchFamily="34" charset="-120"/>
              </a:rPr>
              <a:t>Compounding moat
</a:t>
            </a:r>
            <a:pPr indent="0" marL="0">
              <a:buNone/>
            </a:pPr>
            <a:r>
              <a:rPr lang="en-US" sz="970" dirty="0">
                <a:solidFill>
                  <a:srgbClr val="F8FAFC"/>
                </a:solidFill>
                <a:latin typeface="Aptos" pitchFamily="34" charset="0"/>
                <a:ea typeface="Aptos" pitchFamily="34" charset="-122"/>
                <a:cs typeface="Aptos" pitchFamily="34" charset="-120"/>
              </a:rPr>
              <a:t>Personalized AI advantage increases accuracy and switching costs.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Early customer conversations validate pricing and pilot pipeline</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07</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594360" y="1051560"/>
            <a:ext cx="5440680" cy="3611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700" b="1" dirty="0">
                <a:solidFill>
                  <a:srgbClr val="FBBF24"/>
                </a:solidFill>
                <a:latin typeface="Aptos" pitchFamily="34" charset="0"/>
                <a:ea typeface="Aptos" pitchFamily="34" charset="-122"/>
                <a:cs typeface="Aptos" pitchFamily="34" charset="-120"/>
              </a:rPr>
              <a:t>Current validation
</a:t>
            </a:r>
            <a:pPr indent="0" marL="0">
              <a:buNone/>
            </a:pPr>
            <a:r>
              <a:rPr lang="en-US" sz="1150" dirty="0">
                <a:solidFill>
                  <a:srgbClr val="F8FAFC"/>
                </a:solidFill>
                <a:latin typeface="Aptos" pitchFamily="34" charset="0"/>
                <a:ea typeface="Aptos" pitchFamily="34" charset="-122"/>
                <a:cs typeface="Aptos" pitchFamily="34" charset="-120"/>
              </a:rPr>
              <a:t>Customer conversations</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Direct access to 50+ EPC contacts from 8 years in solar</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Pricing validated: $10K-$14K/month per project</a:t>
            </a:r>
            <a:endParaRPr lang="en-US" sz="1700" dirty="0"/>
          </a:p>
          <a:p>
            <a:pPr indent="0" marL="0">
              <a:buNone/>
            </a:pP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Platform readiness</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- 18 modules built and tested</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Phase 2 development complete</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React + Supabase production stack</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 Demo-ready for pilot onboarding</a:t>
            </a:r>
            <a:endParaRPr lang="en-US" sz="1700" dirty="0"/>
          </a:p>
        </p:txBody>
      </p:sp>
      <p:sp>
        <p:nvSpPr>
          <p:cNvPr id="7" name="Text 4"/>
          <p:cNvSpPr/>
          <p:nvPr/>
        </p:nvSpPr>
        <p:spPr>
          <a:xfrm>
            <a:off x="6309360" y="1051560"/>
            <a:ext cx="5303520" cy="36118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700" b="1" dirty="0">
                <a:solidFill>
                  <a:srgbClr val="FBBF24"/>
                </a:solidFill>
                <a:latin typeface="Aptos" pitchFamily="34" charset="0"/>
                <a:ea typeface="Aptos" pitchFamily="34" charset="-122"/>
                <a:cs typeface="Aptos" pitchFamily="34" charset="-120"/>
              </a:rPr>
              <a:t>Next 180 days
</a:t>
            </a:r>
            <a:pPr indent="0" marL="0">
              <a:buNone/>
            </a:pPr>
            <a:r>
              <a:rPr lang="en-US" sz="1150" dirty="0">
                <a:solidFill>
                  <a:srgbClr val="F8FAFC"/>
                </a:solidFill>
                <a:latin typeface="Aptos" pitchFamily="34" charset="0"/>
                <a:ea typeface="Aptos" pitchFamily="34" charset="-122"/>
                <a:cs typeface="Aptos" pitchFamily="34" charset="-120"/>
              </a:rPr>
              <a:t>Q2 2026</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First pilot customer onboarded; target 1 paying project @ $10K/month</a:t>
            </a:r>
            <a:endParaRPr lang="en-US" sz="1700" dirty="0"/>
          </a:p>
          <a:p>
            <a:pPr indent="0" marL="0">
              <a:buNone/>
            </a:pP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Q3 2026</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Expand pilot program; target $10K MRR from 1-2 projects</a:t>
            </a:r>
            <a:endParaRPr lang="en-US" sz="1700" dirty="0"/>
          </a:p>
          <a:p>
            <a:pPr indent="0" marL="0">
              <a:buNone/>
            </a:pP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Q4 2026</a:t>
            </a:r>
            <a:endParaRPr lang="en-US" sz="1700" dirty="0"/>
          </a:p>
          <a:p>
            <a:pPr indent="0" marL="0">
              <a:buNone/>
            </a:pPr>
            <a:r>
              <a:rPr lang="en-US" sz="1150" dirty="0">
                <a:solidFill>
                  <a:srgbClr val="F8FAFC"/>
                </a:solidFill>
                <a:latin typeface="Aptos" pitchFamily="34" charset="0"/>
                <a:ea typeface="Aptos" pitchFamily="34" charset="-122"/>
                <a:cs typeface="Aptos" pitchFamily="34" charset="-120"/>
              </a:rPr>
              <a:t>Repeatable onboarding playbook; target scale to 5-10 customers</a:t>
            </a:r>
            <a:endParaRPr lang="en-US" sz="1700" dirty="0"/>
          </a:p>
        </p:txBody>
      </p:sp>
      <p:sp>
        <p:nvSpPr>
          <p:cNvPr id="8" name="Text 5"/>
          <p:cNvSpPr/>
          <p:nvPr/>
        </p:nvSpPr>
        <p:spPr>
          <a:xfrm>
            <a:off x="914400" y="5047488"/>
            <a:ext cx="10378440" cy="457200"/>
          </a:xfrm>
          <a:prstGeom prst="rect">
            <a:avLst/>
          </a:prstGeom>
          <a:solidFill>
            <a:srgbClr val="FBBF24"/>
          </a:solidFill>
          <a:ln/>
        </p:spPr>
        <p:txBody>
          <a:bodyPr wrap="square" lIns="635" tIns="635" rIns="635" bIns="635" rtlCol="0" anchor="ctr"/>
          <a:lstStyle/>
          <a:p>
            <a:pPr algn="ctr" indent="0" marL="0">
              <a:buNone/>
            </a:pPr>
            <a:r>
              <a:rPr lang="en-US" sz="1900" b="1" dirty="0">
                <a:solidFill>
                  <a:srgbClr val="07182D"/>
                </a:solidFill>
              </a:rPr>
              <a:t>$120K gets Meridian from MVP to pilot validation to repeatable revenue</a:t>
            </a:r>
            <a:endParaRPr lang="en-US" sz="1900" dirty="0"/>
          </a:p>
        </p:txBody>
      </p:sp>
      <p:sp>
        <p:nvSpPr>
          <p:cNvPr id="9" name="Shape 6"/>
          <p:cNvSpPr/>
          <p:nvPr/>
        </p:nvSpPr>
        <p:spPr>
          <a:xfrm>
            <a:off x="1600200" y="5797296"/>
            <a:ext cx="8869680" cy="0"/>
          </a:xfrm>
          <a:prstGeom prst="line">
            <a:avLst/>
          </a:prstGeom>
          <a:noFill/>
          <a:ln w="27940">
            <a:solidFill>
              <a:srgbClr val="F59E0B">
                <a:alpha val="85000"/>
              </a:srgbClr>
            </a:solidFill>
            <a:prstDash val="solid"/>
            <a:headEnd type="none"/>
            <a:tailEnd type="triangle"/>
          </a:ln>
        </p:spPr>
      </p:sp>
      <p:sp>
        <p:nvSpPr>
          <p:cNvPr id="10" name="Shape 7"/>
          <p:cNvSpPr/>
          <p:nvPr/>
        </p:nvSpPr>
        <p:spPr>
          <a:xfrm>
            <a:off x="1325880" y="5678424"/>
            <a:ext cx="237744" cy="237744"/>
          </a:xfrm>
          <a:prstGeom prst="ellipse">
            <a:avLst/>
          </a:prstGeom>
          <a:solidFill>
            <a:srgbClr val="FBBF24"/>
          </a:solidFill>
          <a:ln w="12700">
            <a:solidFill>
              <a:srgbClr val="F59E0B"/>
            </a:solidFill>
            <a:prstDash val="solid"/>
          </a:ln>
        </p:spPr>
      </p:sp>
      <p:sp>
        <p:nvSpPr>
          <p:cNvPr id="11" name="Text 8"/>
          <p:cNvSpPr/>
          <p:nvPr/>
        </p:nvSpPr>
        <p:spPr>
          <a:xfrm>
            <a:off x="1005840" y="6007608"/>
            <a:ext cx="822960" cy="182880"/>
          </a:xfrm>
          <a:prstGeom prst="rect">
            <a:avLst/>
          </a:prstGeom>
          <a:noFill/>
          <a:ln/>
        </p:spPr>
        <p:txBody>
          <a:bodyPr wrap="square" lIns="0" tIns="0" rIns="0" bIns="0" rtlCol="0" anchor="ctr"/>
          <a:lstStyle/>
          <a:p>
            <a:pPr algn="ctr" indent="0" marL="0">
              <a:buNone/>
            </a:pPr>
            <a:r>
              <a:rPr lang="en-US" sz="800" b="1" dirty="0">
                <a:solidFill>
                  <a:srgbClr val="FBBF24"/>
                </a:solidFill>
              </a:rPr>
              <a:t>Q2</a:t>
            </a:r>
            <a:endParaRPr lang="en-US" sz="800" dirty="0"/>
          </a:p>
        </p:txBody>
      </p:sp>
      <p:sp>
        <p:nvSpPr>
          <p:cNvPr id="12" name="Text 9"/>
          <p:cNvSpPr/>
          <p:nvPr/>
        </p:nvSpPr>
        <p:spPr>
          <a:xfrm>
            <a:off x="640080" y="6254496"/>
            <a:ext cx="1645920" cy="502920"/>
          </a:xfrm>
          <a:prstGeom prst="rect">
            <a:avLst/>
          </a:prstGeom>
          <a:noFill/>
          <a:ln/>
        </p:spPr>
        <p:txBody>
          <a:bodyPr wrap="square" lIns="254" tIns="254" rIns="254" bIns="254" rtlCol="0" anchor="t">
            <a:normAutofit/>
          </a:bodyPr>
          <a:lstStyle/>
          <a:p>
            <a:pPr algn="ctr" indent="0" marL="0">
              <a:buNone/>
            </a:pPr>
            <a:r>
              <a:rPr lang="en-US" sz="800" dirty="0">
                <a:solidFill>
                  <a:srgbClr val="F8FAFC"/>
                </a:solidFill>
              </a:rPr>
              <a:t>first pilot</a:t>
            </a:r>
            <a:endParaRPr lang="en-US" sz="800" dirty="0"/>
          </a:p>
        </p:txBody>
      </p:sp>
      <p:sp>
        <p:nvSpPr>
          <p:cNvPr id="13" name="Shape 10"/>
          <p:cNvSpPr/>
          <p:nvPr/>
        </p:nvSpPr>
        <p:spPr>
          <a:xfrm>
            <a:off x="6035040" y="5678424"/>
            <a:ext cx="237744" cy="237744"/>
          </a:xfrm>
          <a:prstGeom prst="ellipse">
            <a:avLst/>
          </a:prstGeom>
          <a:solidFill>
            <a:srgbClr val="FBBF24"/>
          </a:solidFill>
          <a:ln w="12700">
            <a:solidFill>
              <a:srgbClr val="F59E0B"/>
            </a:solidFill>
            <a:prstDash val="solid"/>
          </a:ln>
        </p:spPr>
      </p:sp>
      <p:sp>
        <p:nvSpPr>
          <p:cNvPr id="14" name="Text 11"/>
          <p:cNvSpPr/>
          <p:nvPr/>
        </p:nvSpPr>
        <p:spPr>
          <a:xfrm>
            <a:off x="5715000" y="6007608"/>
            <a:ext cx="822960" cy="182880"/>
          </a:xfrm>
          <a:prstGeom prst="rect">
            <a:avLst/>
          </a:prstGeom>
          <a:noFill/>
          <a:ln/>
        </p:spPr>
        <p:txBody>
          <a:bodyPr wrap="square" lIns="0" tIns="0" rIns="0" bIns="0" rtlCol="0" anchor="ctr"/>
          <a:lstStyle/>
          <a:p>
            <a:pPr algn="ctr" indent="0" marL="0">
              <a:buNone/>
            </a:pPr>
            <a:r>
              <a:rPr lang="en-US" sz="800" b="1" dirty="0">
                <a:solidFill>
                  <a:srgbClr val="FBBF24"/>
                </a:solidFill>
              </a:rPr>
              <a:t>Q3</a:t>
            </a:r>
            <a:endParaRPr lang="en-US" sz="800" dirty="0"/>
          </a:p>
        </p:txBody>
      </p:sp>
      <p:sp>
        <p:nvSpPr>
          <p:cNvPr id="15" name="Text 12"/>
          <p:cNvSpPr/>
          <p:nvPr/>
        </p:nvSpPr>
        <p:spPr>
          <a:xfrm>
            <a:off x="5349240" y="6254496"/>
            <a:ext cx="1645920" cy="502920"/>
          </a:xfrm>
          <a:prstGeom prst="rect">
            <a:avLst/>
          </a:prstGeom>
          <a:noFill/>
          <a:ln/>
        </p:spPr>
        <p:txBody>
          <a:bodyPr wrap="square" lIns="254" tIns="254" rIns="254" bIns="254" rtlCol="0" anchor="t">
            <a:normAutofit/>
          </a:bodyPr>
          <a:lstStyle/>
          <a:p>
            <a:pPr algn="ctr" indent="0" marL="0">
              <a:buNone/>
            </a:pPr>
            <a:r>
              <a:rPr lang="en-US" sz="800" dirty="0">
                <a:solidFill>
                  <a:srgbClr val="F8FAFC"/>
                </a:solidFill>
              </a:rPr>
              <a:t>$10K MRR</a:t>
            </a:r>
            <a:endParaRPr lang="en-US" sz="800" dirty="0"/>
          </a:p>
        </p:txBody>
      </p:sp>
      <p:sp>
        <p:nvSpPr>
          <p:cNvPr id="16" name="Shape 13"/>
          <p:cNvSpPr/>
          <p:nvPr/>
        </p:nvSpPr>
        <p:spPr>
          <a:xfrm>
            <a:off x="10744200" y="5678424"/>
            <a:ext cx="237744" cy="237744"/>
          </a:xfrm>
          <a:prstGeom prst="ellipse">
            <a:avLst/>
          </a:prstGeom>
          <a:solidFill>
            <a:srgbClr val="FBBF24"/>
          </a:solidFill>
          <a:ln w="12700">
            <a:solidFill>
              <a:srgbClr val="F59E0B"/>
            </a:solidFill>
            <a:prstDash val="solid"/>
          </a:ln>
        </p:spPr>
      </p:sp>
      <p:sp>
        <p:nvSpPr>
          <p:cNvPr id="17" name="Text 14"/>
          <p:cNvSpPr/>
          <p:nvPr/>
        </p:nvSpPr>
        <p:spPr>
          <a:xfrm>
            <a:off x="10424160" y="6007608"/>
            <a:ext cx="822960" cy="182880"/>
          </a:xfrm>
          <a:prstGeom prst="rect">
            <a:avLst/>
          </a:prstGeom>
          <a:noFill/>
          <a:ln/>
        </p:spPr>
        <p:txBody>
          <a:bodyPr wrap="square" lIns="0" tIns="0" rIns="0" bIns="0" rtlCol="0" anchor="ctr"/>
          <a:lstStyle/>
          <a:p>
            <a:pPr algn="ctr" indent="0" marL="0">
              <a:buNone/>
            </a:pPr>
            <a:r>
              <a:rPr lang="en-US" sz="800" b="1" dirty="0">
                <a:solidFill>
                  <a:srgbClr val="FBBF24"/>
                </a:solidFill>
              </a:rPr>
              <a:t>Q4</a:t>
            </a:r>
            <a:endParaRPr lang="en-US" sz="800" dirty="0"/>
          </a:p>
        </p:txBody>
      </p:sp>
      <p:sp>
        <p:nvSpPr>
          <p:cNvPr id="18" name="Text 15"/>
          <p:cNvSpPr/>
          <p:nvPr/>
        </p:nvSpPr>
        <p:spPr>
          <a:xfrm>
            <a:off x="10058400" y="6254496"/>
            <a:ext cx="1645920" cy="502920"/>
          </a:xfrm>
          <a:prstGeom prst="rect">
            <a:avLst/>
          </a:prstGeom>
          <a:noFill/>
          <a:ln/>
        </p:spPr>
        <p:txBody>
          <a:bodyPr wrap="square" lIns="254" tIns="254" rIns="254" bIns="254" rtlCol="0" anchor="t">
            <a:normAutofit/>
          </a:bodyPr>
          <a:lstStyle/>
          <a:p>
            <a:pPr algn="ctr" indent="0" marL="0">
              <a:buNone/>
            </a:pPr>
            <a:r>
              <a:rPr lang="en-US" sz="800" dirty="0">
                <a:solidFill>
                  <a:srgbClr val="F8FAFC"/>
                </a:solidFill>
              </a:rPr>
              <a:t>repeatable onboarding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Project-level pricing creates premium ARPA with AI expansion</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08</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822960" y="960120"/>
            <a:ext cx="10561320" cy="347472"/>
          </a:xfrm>
          <a:prstGeom prst="rect">
            <a:avLst/>
          </a:prstGeom>
          <a:noFill/>
          <a:ln/>
        </p:spPr>
        <p:txBody>
          <a:bodyPr wrap="square" lIns="254" tIns="254" rIns="254" bIns="254" rtlCol="0" anchor="ctr">
            <a:normAutofit/>
          </a:bodyPr>
          <a:lstStyle/>
          <a:p>
            <a:pPr algn="ctr" indent="0" marL="0">
              <a:buNone/>
            </a:pPr>
            <a:r>
              <a:rPr lang="en-US" sz="1420" dirty="0">
                <a:solidFill>
                  <a:srgbClr val="B8C5D6"/>
                </a:solidFill>
              </a:rPr>
              <a:t>Pricing is designed around the economic reality of utility-scale projects: large budgets, high LD exposure, and heavy documentation requirements.</a:t>
            </a:r>
            <a:endParaRPr lang="en-US" sz="1420" dirty="0"/>
          </a:p>
        </p:txBody>
      </p:sp>
      <p:sp>
        <p:nvSpPr>
          <p:cNvPr id="7" name="Text 4"/>
          <p:cNvSpPr/>
          <p:nvPr/>
        </p:nvSpPr>
        <p:spPr>
          <a:xfrm>
            <a:off x="685800" y="1600200"/>
            <a:ext cx="3429000" cy="13258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3000" b="1" dirty="0">
                <a:solidFill>
                  <a:srgbClr val="FBBF24"/>
                </a:solidFill>
              </a:rPr>
              <a:t>$10,000
</a:t>
            </a:r>
            <a:pPr algn="ctr" indent="0" marL="0">
              <a:buNone/>
            </a:pPr>
            <a:r>
              <a:rPr lang="en-US" sz="1050" b="1" dirty="0">
                <a:solidFill>
                  <a:srgbClr val="F8FAFC"/>
                </a:solidFill>
              </a:rPr>
              <a:t>Base platform / month
</a:t>
            </a:r>
            <a:pPr algn="ctr" indent="0" marL="0">
              <a:buNone/>
            </a:pPr>
            <a:r>
              <a:rPr lang="en-US" sz="850" dirty="0">
                <a:solidFill>
                  <a:srgbClr val="B8C5D6"/>
                </a:solidFill>
              </a:rPr>
              <a:t>Full 18-module suite - no AI premium tiers</a:t>
            </a:r>
            <a:endParaRPr lang="en-US" sz="3000" dirty="0"/>
          </a:p>
        </p:txBody>
      </p:sp>
      <p:sp>
        <p:nvSpPr>
          <p:cNvPr id="8" name="Text 5"/>
          <p:cNvSpPr/>
          <p:nvPr/>
        </p:nvSpPr>
        <p:spPr>
          <a:xfrm>
            <a:off x="4389120" y="1600200"/>
            <a:ext cx="3429000" cy="13258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3000" b="1" dirty="0">
                <a:solidFill>
                  <a:srgbClr val="FBBF24"/>
                </a:solidFill>
              </a:rPr>
              <a:t>+$2,000
</a:t>
            </a:r>
            <a:pPr algn="ctr" indent="0" marL="0">
              <a:buNone/>
            </a:pPr>
            <a:r>
              <a:rPr lang="en-US" sz="1050" b="1" dirty="0">
                <a:solidFill>
                  <a:srgbClr val="F8FAFC"/>
                </a:solidFill>
              </a:rPr>
              <a:t>Build Planner AI / month
</a:t>
            </a:r>
            <a:pPr algn="ctr" indent="0" marL="0">
              <a:buNone/>
            </a:pPr>
            <a:r>
              <a:rPr lang="en-US" sz="850" dirty="0">
                <a:solidFill>
                  <a:srgbClr val="B8C5D6"/>
                </a:solidFill>
              </a:rPr>
              <a:t>BuildIQ powers automated planning and risk forecasts</a:t>
            </a:r>
            <a:endParaRPr lang="en-US" sz="3000" dirty="0"/>
          </a:p>
        </p:txBody>
      </p:sp>
      <p:sp>
        <p:nvSpPr>
          <p:cNvPr id="9" name="Text 6"/>
          <p:cNvSpPr/>
          <p:nvPr/>
        </p:nvSpPr>
        <p:spPr>
          <a:xfrm>
            <a:off x="8092440" y="1600200"/>
            <a:ext cx="3429000" cy="13258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3000" b="1" dirty="0">
                <a:solidFill>
                  <a:srgbClr val="FBBF24"/>
                </a:solidFill>
              </a:rPr>
              <a:t>+$2,000
</a:t>
            </a:r>
            <a:pPr algn="ctr" indent="0" marL="0">
              <a:buNone/>
            </a:pPr>
            <a:r>
              <a:rPr lang="en-US" sz="1050" b="1" dirty="0">
                <a:solidFill>
                  <a:srgbClr val="F8FAFC"/>
                </a:solidFill>
              </a:rPr>
              <a:t>Quality AI / month
</a:t>
            </a:r>
            <a:pPr algn="ctr" indent="0" marL="0">
              <a:buNone/>
            </a:pPr>
            <a:r>
              <a:rPr lang="en-US" sz="850" dirty="0">
                <a:solidFill>
                  <a:srgbClr val="B8C5D6"/>
                </a:solidFill>
              </a:rPr>
              <a:t>InspectionIQ powers templates and field checks</a:t>
            </a:r>
            <a:endParaRPr lang="en-US" sz="3000" dirty="0"/>
          </a:p>
        </p:txBody>
      </p:sp>
      <p:sp>
        <p:nvSpPr>
          <p:cNvPr id="10" name="Text 7"/>
          <p:cNvSpPr/>
          <p:nvPr/>
        </p:nvSpPr>
        <p:spPr>
          <a:xfrm>
            <a:off x="914400" y="3337560"/>
            <a:ext cx="10378440" cy="548640"/>
          </a:xfrm>
          <a:prstGeom prst="rect">
            <a:avLst/>
          </a:prstGeom>
          <a:solidFill>
            <a:srgbClr val="FBBF24"/>
          </a:solidFill>
          <a:ln/>
        </p:spPr>
        <p:txBody>
          <a:bodyPr wrap="square" lIns="0" tIns="0" rIns="0" bIns="0" rtlCol="0" anchor="ctr"/>
          <a:lstStyle/>
          <a:p>
            <a:pPr algn="ctr" indent="0" marL="0">
              <a:buNone/>
            </a:pPr>
            <a:r>
              <a:rPr lang="en-US" sz="2100" b="1" dirty="0">
                <a:solidFill>
                  <a:srgbClr val="07182D"/>
                </a:solidFill>
              </a:rPr>
              <a:t>TOTAL WITH DUAL AI: $14,000 / PROJECT / MONTH</a:t>
            </a:r>
            <a:endParaRPr lang="en-US" sz="2100" dirty="0"/>
          </a:p>
        </p:txBody>
      </p:sp>
      <p:sp>
        <p:nvSpPr>
          <p:cNvPr id="11" name="Text 8"/>
          <p:cNvSpPr/>
          <p:nvPr/>
        </p:nvSpPr>
        <p:spPr>
          <a:xfrm>
            <a:off x="914400" y="4389120"/>
            <a:ext cx="2971800" cy="96012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Enterprise-aligned
</a:t>
            </a:r>
            <a:pPr indent="0" marL="0">
              <a:buNone/>
            </a:pPr>
            <a:r>
              <a:rPr lang="en-US" sz="1080" dirty="0">
                <a:solidFill>
                  <a:srgbClr val="F8FAFC"/>
                </a:solidFill>
                <a:latin typeface="Aptos" pitchFamily="34" charset="0"/>
                <a:ea typeface="Aptos" pitchFamily="34" charset="-122"/>
                <a:cs typeface="Aptos" pitchFamily="34" charset="-120"/>
              </a:rPr>
              <a:t>Comparable with Procore GC tiers, but purpose-built for solar EPC workflows.</a:t>
            </a:r>
            <a:endParaRPr lang="en-US" sz="1500" dirty="0"/>
          </a:p>
        </p:txBody>
      </p:sp>
      <p:sp>
        <p:nvSpPr>
          <p:cNvPr id="12" name="Text 9"/>
          <p:cNvSpPr/>
          <p:nvPr/>
        </p:nvSpPr>
        <p:spPr>
          <a:xfrm>
            <a:off x="4572000" y="4389120"/>
            <a:ext cx="2971800" cy="96012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Expansion path
</a:t>
            </a:r>
            <a:pPr indent="0" marL="0">
              <a:buNone/>
            </a:pPr>
            <a:r>
              <a:rPr lang="en-US" sz="1080" dirty="0">
                <a:solidFill>
                  <a:srgbClr val="F8FAFC"/>
                </a:solidFill>
                <a:latin typeface="Aptos" pitchFamily="34" charset="0"/>
                <a:ea typeface="Aptos" pitchFamily="34" charset="-122"/>
                <a:cs typeface="Aptos" pitchFamily="34" charset="-120"/>
              </a:rPr>
              <a:t>Standalone AI tools act as entry points and upsell into Field Command.</a:t>
            </a:r>
            <a:endParaRPr lang="en-US" sz="1500" dirty="0"/>
          </a:p>
        </p:txBody>
      </p:sp>
      <p:sp>
        <p:nvSpPr>
          <p:cNvPr id="13" name="Text 10"/>
          <p:cNvSpPr/>
          <p:nvPr/>
        </p:nvSpPr>
        <p:spPr>
          <a:xfrm>
            <a:off x="8229600" y="4389120"/>
            <a:ext cx="2971800" cy="96012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Retention lever
</a:t>
            </a:r>
            <a:pPr indent="0" marL="0">
              <a:buNone/>
            </a:pPr>
            <a:r>
              <a:rPr lang="en-US" sz="1080" dirty="0">
                <a:solidFill>
                  <a:srgbClr val="F8FAFC"/>
                </a:solidFill>
                <a:latin typeface="Aptos" pitchFamily="34" charset="0"/>
                <a:ea typeface="Aptos" pitchFamily="34" charset="-122"/>
                <a:cs typeface="Aptos" pitchFamily="34" charset="-120"/>
              </a:rPr>
              <a:t>Learning loop improves accuracy project over project, creating switching costs.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82D"/>
        </a:solidFill>
      </p:bgPr>
    </p:bg>
    <p:spTree>
      <p:nvGrpSpPr>
        <p:cNvPr id="1" name=""/>
        <p:cNvGrpSpPr/>
        <p:nvPr/>
      </p:nvGrpSpPr>
      <p:grpSpPr>
        <a:xfrm>
          <a:off x="0" y="0"/>
          <a:ext cx="0" cy="0"/>
          <a:chOff x="0" y="0"/>
          <a:chExt cx="0" cy="0"/>
        </a:xfrm>
      </p:grpSpPr>
      <p:pic>
        <p:nvPicPr>
          <p:cNvPr id="2" name="Image 0" descr="/mnt/data/hero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Solar EPC represents a $4.2B+ TAM growing with clean infrastructure demand</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09</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sp>
        <p:nvSpPr>
          <p:cNvPr id="7" name="Text 3"/>
          <p:cNvSpPr/>
          <p:nvPr/>
        </p:nvSpPr>
        <p:spPr>
          <a:xfrm>
            <a:off x="548640" y="1097280"/>
            <a:ext cx="3611880" cy="42519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TAM
$4.2 BILLION
</a:t>
            </a:r>
            <a:pPr indent="0" marL="0">
              <a:buNone/>
            </a:pPr>
            <a:r>
              <a:rPr lang="en-US" sz="1050" dirty="0">
                <a:solidFill>
                  <a:srgbClr val="F8FAFC"/>
                </a:solidFill>
                <a:latin typeface="Aptos" pitchFamily="34" charset="0"/>
                <a:ea typeface="Aptos" pitchFamily="34" charset="-122"/>
                <a:cs typeface="Aptos" pitchFamily="34" charset="-120"/>
              </a:rPr>
              <a:t>Total Addressable Market</a:t>
            </a:r>
            <a:endParaRPr lang="en-US" sz="1800" dirty="0"/>
          </a:p>
          <a:p>
            <a:pPr indent="0" marL="0">
              <a:buNone/>
            </a:pPr>
            <a:endParaRPr lang="en-US" sz="1800" dirty="0"/>
          </a:p>
          <a:p>
            <a:pPr indent="0" marL="0">
              <a:buNone/>
            </a:pPr>
            <a:r>
              <a:rPr lang="en-US" sz="1050" dirty="0">
                <a:solidFill>
                  <a:srgbClr val="F8FAFC"/>
                </a:solidFill>
                <a:latin typeface="Aptos" pitchFamily="34" charset="0"/>
                <a:ea typeface="Aptos" pitchFamily="34" charset="-122"/>
                <a:cs typeface="Aptos" pitchFamily="34" charset="-120"/>
              </a:rPr>
              <a:t>All U.S. construction management software for:</a:t>
            </a:r>
            <a:endParaRPr lang="en-US" sz="1800" dirty="0"/>
          </a:p>
          <a:p>
            <a:pPr indent="0" marL="0">
              <a:buNone/>
            </a:pPr>
            <a:r>
              <a:rPr lang="en-US" sz="1050" dirty="0">
                <a:solidFill>
                  <a:srgbClr val="F8FAFC"/>
                </a:solidFill>
                <a:latin typeface="Aptos" pitchFamily="34" charset="0"/>
                <a:ea typeface="Aptos" pitchFamily="34" charset="-122"/>
                <a:cs typeface="Aptos" pitchFamily="34" charset="-120"/>
              </a:rPr>
              <a:t>- Utility-scale solar EPC</a:t>
            </a:r>
            <a:endParaRPr lang="en-US" sz="1800" dirty="0"/>
          </a:p>
          <a:p>
            <a:pPr indent="0" marL="0">
              <a:buNone/>
            </a:pPr>
            <a:r>
              <a:rPr lang="en-US" sz="1050" dirty="0">
                <a:solidFill>
                  <a:srgbClr val="F8FAFC"/>
                </a:solidFill>
                <a:latin typeface="Aptos" pitchFamily="34" charset="0"/>
                <a:ea typeface="Aptos" pitchFamily="34" charset="-122"/>
                <a:cs typeface="Aptos" pitchFamily="34" charset="-120"/>
              </a:rPr>
              <a:t>- BESS projects</a:t>
            </a:r>
            <a:endParaRPr lang="en-US" sz="1800" dirty="0"/>
          </a:p>
          <a:p>
            <a:pPr indent="0" marL="0">
              <a:buNone/>
            </a:pPr>
            <a:r>
              <a:rPr lang="en-US" sz="1050" dirty="0">
                <a:solidFill>
                  <a:srgbClr val="F8FAFC"/>
                </a:solidFill>
                <a:latin typeface="Aptos" pitchFamily="34" charset="0"/>
                <a:ea typeface="Aptos" pitchFamily="34" charset="-122"/>
                <a:cs typeface="Aptos" pitchFamily="34" charset="-120"/>
              </a:rPr>
              <a:t>- Data center infrastructure</a:t>
            </a:r>
            <a:endParaRPr lang="en-US" sz="1800" dirty="0"/>
          </a:p>
          <a:p>
            <a:pPr indent="0" marL="0">
              <a:buNone/>
            </a:pPr>
            <a:endParaRPr lang="en-US" sz="1800" dirty="0"/>
          </a:p>
          <a:p>
            <a:pPr indent="0" marL="0">
              <a:buNone/>
            </a:pPr>
            <a:r>
              <a:rPr lang="en-US" sz="1050" dirty="0">
                <a:solidFill>
                  <a:srgbClr val="F8FAFC"/>
                </a:solidFill>
                <a:latin typeface="Aptos" pitchFamily="34" charset="0"/>
                <a:ea typeface="Aptos" pitchFamily="34" charset="-122"/>
                <a:cs typeface="Aptos" pitchFamily="34" charset="-120"/>
              </a:rPr>
              <a:t>Market tailwind: solar and storage dominate planned U.S. capacity additions.</a:t>
            </a:r>
            <a:endParaRPr lang="en-US" sz="1800" dirty="0"/>
          </a:p>
        </p:txBody>
      </p:sp>
      <p:sp>
        <p:nvSpPr>
          <p:cNvPr id="8" name="Text 4"/>
          <p:cNvSpPr/>
          <p:nvPr/>
        </p:nvSpPr>
        <p:spPr>
          <a:xfrm>
            <a:off x="4297680" y="1097280"/>
            <a:ext cx="3611880" cy="42519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SAM
$1.3 BILLION
</a:t>
            </a:r>
            <a:pPr indent="0" marL="0">
              <a:buNone/>
            </a:pPr>
            <a:r>
              <a:rPr lang="en-US" sz="940" dirty="0">
                <a:solidFill>
                  <a:srgbClr val="F8FAFC"/>
                </a:solidFill>
                <a:latin typeface="Aptos" pitchFamily="34" charset="0"/>
                <a:ea typeface="Aptos" pitchFamily="34" charset="-122"/>
                <a:cs typeface="Aptos" pitchFamily="34" charset="-120"/>
              </a:rPr>
              <a:t>Serviceable Addressable Market</a:t>
            </a:r>
            <a:endParaRPr lang="en-US" sz="1800" dirty="0"/>
          </a:p>
          <a:p>
            <a:pPr indent="0" marL="0">
              <a:buNone/>
            </a:pP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Solar EPC contractors managing 50MW+ projects:</a:t>
            </a: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- 1,200+ target customers</a:t>
            </a: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 Avg 2-5 concurrent projects</a:t>
            </a: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 $10K-$14K per project/month</a:t>
            </a: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 Typical project: 12-18 months</a:t>
            </a:r>
            <a:endParaRPr lang="en-US" sz="1800" dirty="0"/>
          </a:p>
          <a:p>
            <a:pPr indent="0" marL="0">
              <a:buNone/>
            </a:pP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Bottom-up anchor:</a:t>
            </a:r>
            <a:endParaRPr lang="en-US" sz="1800" dirty="0"/>
          </a:p>
          <a:p>
            <a:pPr indent="0" marL="0">
              <a:buNone/>
            </a:pPr>
            <a:r>
              <a:rPr lang="en-US" sz="940" dirty="0">
                <a:solidFill>
                  <a:srgbClr val="F8FAFC"/>
                </a:solidFill>
                <a:latin typeface="Aptos" pitchFamily="34" charset="0"/>
                <a:ea typeface="Aptos" pitchFamily="34" charset="-122"/>
                <a:cs typeface="Aptos" pitchFamily="34" charset="-120"/>
              </a:rPr>
              <a:t>1,200 x 3 projects x $12K x 12 months = $518M ARR potential before broader EPC expansion.</a:t>
            </a:r>
            <a:endParaRPr lang="en-US" sz="1800" dirty="0"/>
          </a:p>
        </p:txBody>
      </p:sp>
      <p:sp>
        <p:nvSpPr>
          <p:cNvPr id="9" name="Text 5"/>
          <p:cNvSpPr/>
          <p:nvPr/>
        </p:nvSpPr>
        <p:spPr>
          <a:xfrm>
            <a:off x="8046720" y="1097280"/>
            <a:ext cx="3611880" cy="42519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800" b="1" dirty="0">
                <a:solidFill>
                  <a:srgbClr val="FBBF24"/>
                </a:solidFill>
                <a:latin typeface="Aptos" pitchFamily="34" charset="0"/>
                <a:ea typeface="Aptos" pitchFamily="34" charset="-122"/>
                <a:cs typeface="Aptos" pitchFamily="34" charset="-120"/>
              </a:rPr>
              <a:t>SOM
$12M ARR
</a:t>
            </a:r>
            <a:pPr indent="0" marL="0">
              <a:buNone/>
            </a:pPr>
            <a:r>
              <a:rPr lang="en-US" sz="1020" dirty="0">
                <a:solidFill>
                  <a:srgbClr val="F8FAFC"/>
                </a:solidFill>
                <a:latin typeface="Aptos" pitchFamily="34" charset="0"/>
                <a:ea typeface="Aptos" pitchFamily="34" charset="-122"/>
                <a:cs typeface="Aptos" pitchFamily="34" charset="-120"/>
              </a:rPr>
              <a:t>Serviceable Obtainable Market</a:t>
            </a: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Year 3 target</a:t>
            </a:r>
            <a:endParaRPr lang="en-US" sz="1800" dirty="0"/>
          </a:p>
          <a:p>
            <a:pPr indent="0" marL="0">
              <a:buNone/>
            </a:pP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Conservative capture:</a:t>
            </a: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- 100 active projects</a:t>
            </a: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 $10K average monthly revenue</a:t>
            </a: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 About 1% of SAM penetration</a:t>
            </a:r>
            <a:endParaRPr lang="en-US" sz="1800" dirty="0"/>
          </a:p>
          <a:p>
            <a:pPr indent="0" marL="0">
              <a:buNone/>
            </a:pPr>
            <a:endParaRPr lang="en-US" sz="1800" dirty="0"/>
          </a:p>
          <a:p>
            <a:pPr indent="0" marL="0">
              <a:buNone/>
            </a:pPr>
            <a:r>
              <a:rPr lang="en-US" sz="1020" dirty="0">
                <a:solidFill>
                  <a:srgbClr val="F8FAFC"/>
                </a:solidFill>
                <a:latin typeface="Aptos" pitchFamily="34" charset="0"/>
                <a:ea typeface="Aptos" pitchFamily="34" charset="-122"/>
                <a:cs typeface="Aptos" pitchFamily="34" charset="-120"/>
              </a:rPr>
              <a:t>Achievable with founder network, vertical specialization, and first-mover AI advantage.</a:t>
            </a:r>
            <a:endParaRPr lang="en-US" sz="1800" dirty="0"/>
          </a:p>
        </p:txBody>
      </p:sp>
      <p:sp>
        <p:nvSpPr>
          <p:cNvPr id="10" name="Text 6"/>
          <p:cNvSpPr/>
          <p:nvPr/>
        </p:nvSpPr>
        <p:spPr>
          <a:xfrm>
            <a:off x="731520" y="5779008"/>
            <a:ext cx="10835640" cy="384048"/>
          </a:xfrm>
          <a:prstGeom prst="rect">
            <a:avLst/>
          </a:prstGeom>
          <a:noFill/>
          <a:ln/>
        </p:spPr>
        <p:txBody>
          <a:bodyPr wrap="square" lIns="254" tIns="254" rIns="254" bIns="254" rtlCol="0" anchor="ctr">
            <a:normAutofit/>
          </a:bodyPr>
          <a:lstStyle/>
          <a:p>
            <a:pPr algn="ctr" indent="0" marL="0">
              <a:buNone/>
            </a:pPr>
            <a:r>
              <a:rPr lang="en-US" sz="1250" b="1" dirty="0">
                <a:solidFill>
                  <a:srgbClr val="FBBF24"/>
                </a:solidFill>
              </a:rPr>
              <a:t>Market drivers: 43.4 GW planned 2026 solar capacity - IRA incentives - growing BESS complexity - generic tools leave solar-specific gaps</a:t>
            </a:r>
            <a:endParaRPr lang="en-US" sz="1250" dirty="0"/>
          </a:p>
        </p:txBody>
      </p:sp>
      <p:sp>
        <p:nvSpPr>
          <p:cNvPr id="11" name="Text 7"/>
          <p:cNvSpPr/>
          <p:nvPr/>
        </p:nvSpPr>
        <p:spPr>
          <a:xfrm>
            <a:off x="347472" y="6547104"/>
            <a:ext cx="9601200" cy="146304"/>
          </a:xfrm>
          <a:prstGeom prst="rect">
            <a:avLst/>
          </a:prstGeom>
          <a:noFill/>
          <a:ln/>
        </p:spPr>
        <p:txBody>
          <a:bodyPr wrap="square" lIns="0" tIns="0" rIns="0" bIns="0" rtlCol="0" anchor="ctr">
            <a:normAutofit/>
          </a:bodyPr>
          <a:lstStyle/>
          <a:p>
            <a:pPr indent="0" marL="0">
              <a:buNone/>
            </a:pPr>
            <a:r>
              <a:rPr lang="en-US" sz="660" dirty="0">
                <a:solidFill>
                  <a:srgbClr val="7D8EA3"/>
                </a:solidFill>
              </a:rPr>
              <a:t>Sources: U.S. EIA 2026 capacity additions; company estimates for TAM/SAM/SOM.</a:t>
            </a:r>
            <a:endParaRPr lang="en-US" sz="6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Founder-led sales through warm EPC network, then repeatable vertical SaaS motion</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10</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530352" y="1051560"/>
            <a:ext cx="1024128" cy="201168"/>
          </a:xfrm>
          <a:prstGeom prst="rect">
            <a:avLst/>
          </a:prstGeom>
          <a:solidFill>
            <a:srgbClr val="FBBF24"/>
          </a:solidFill>
          <a:ln/>
        </p:spPr>
        <p:txBody>
          <a:bodyPr wrap="square" lIns="0" tIns="0" rIns="0" bIns="0" rtlCol="0" anchor="ctr"/>
          <a:lstStyle/>
          <a:p>
            <a:pPr algn="ctr" indent="0" marL="0">
              <a:buNone/>
            </a:pPr>
            <a:r>
              <a:rPr lang="en-US" sz="800" b="1" dirty="0">
                <a:solidFill>
                  <a:srgbClr val="07182D"/>
                </a:solidFill>
              </a:rPr>
              <a:t>PHASE 1</a:t>
            </a:r>
            <a:endParaRPr lang="en-US" sz="800" dirty="0"/>
          </a:p>
        </p:txBody>
      </p:sp>
      <p:sp>
        <p:nvSpPr>
          <p:cNvPr id="7" name="Text 4"/>
          <p:cNvSpPr/>
          <p:nvPr/>
        </p:nvSpPr>
        <p:spPr>
          <a:xfrm>
            <a:off x="530352" y="1353312"/>
            <a:ext cx="3520440" cy="41148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50" b="1" dirty="0">
                <a:solidFill>
                  <a:srgbClr val="FBBF24"/>
                </a:solidFill>
                <a:latin typeface="Aptos" pitchFamily="34" charset="0"/>
                <a:ea typeface="Aptos" pitchFamily="34" charset="-122"/>
                <a:cs typeface="Aptos" pitchFamily="34" charset="-120"/>
              </a:rPr>
              <a:t>Founder-Led
Current - Q2 2026
</a:t>
            </a:r>
            <a:pPr indent="0" marL="0">
              <a:buNone/>
            </a:pPr>
            <a:r>
              <a:rPr lang="en-US" sz="840" dirty="0">
                <a:solidFill>
                  <a:srgbClr val="F8FAFC"/>
                </a:solidFill>
                <a:latin typeface="Aptos" pitchFamily="34" charset="0"/>
                <a:ea typeface="Aptos" pitchFamily="34" charset="-122"/>
                <a:cs typeface="Aptos" pitchFamily="34" charset="-120"/>
              </a:rPr>
              <a:t>Channels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Warm outreach to 50+ EPC contacts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LinkedIn + industry groups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RE+ / Solar Power International attendance</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Actions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Schedule demos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Close first 3 pilots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Document success metrics</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Metrics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CAC: ~$2K</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Target: 3 pilots = $30K MRR</a:t>
            </a:r>
            <a:endParaRPr lang="en-US" sz="1350" dirty="0"/>
          </a:p>
        </p:txBody>
      </p:sp>
      <p:sp>
        <p:nvSpPr>
          <p:cNvPr id="8" name="Text 5"/>
          <p:cNvSpPr/>
          <p:nvPr/>
        </p:nvSpPr>
        <p:spPr>
          <a:xfrm>
            <a:off x="4352544" y="1051560"/>
            <a:ext cx="1024128" cy="201168"/>
          </a:xfrm>
          <a:prstGeom prst="rect">
            <a:avLst/>
          </a:prstGeom>
          <a:solidFill>
            <a:srgbClr val="38BDF8"/>
          </a:solidFill>
          <a:ln/>
        </p:spPr>
        <p:txBody>
          <a:bodyPr wrap="square" lIns="0" tIns="0" rIns="0" bIns="0" rtlCol="0" anchor="ctr"/>
          <a:lstStyle/>
          <a:p>
            <a:pPr algn="ctr" indent="0" marL="0">
              <a:buNone/>
            </a:pPr>
            <a:r>
              <a:rPr lang="en-US" sz="800" b="1" dirty="0">
                <a:solidFill>
                  <a:srgbClr val="07182D"/>
                </a:solidFill>
              </a:rPr>
              <a:t>PHASE 2</a:t>
            </a:r>
            <a:endParaRPr lang="en-US" sz="800" dirty="0"/>
          </a:p>
        </p:txBody>
      </p:sp>
      <p:sp>
        <p:nvSpPr>
          <p:cNvPr id="9" name="Text 6"/>
          <p:cNvSpPr/>
          <p:nvPr/>
        </p:nvSpPr>
        <p:spPr>
          <a:xfrm>
            <a:off x="4352544" y="1353312"/>
            <a:ext cx="3520440" cy="41148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50" b="1" dirty="0">
                <a:solidFill>
                  <a:srgbClr val="38BDF8"/>
                </a:solidFill>
                <a:latin typeface="Aptos" pitchFamily="34" charset="0"/>
                <a:ea typeface="Aptos" pitchFamily="34" charset="-122"/>
                <a:cs typeface="Aptos" pitchFamily="34" charset="-120"/>
              </a:rPr>
              <a:t>Crowdfunding Visibility
Q3-Q4 2026
</a:t>
            </a:r>
            <a:pPr indent="0" marL="0">
              <a:buNone/>
            </a:pPr>
            <a:r>
              <a:rPr lang="en-US" sz="840" dirty="0">
                <a:solidFill>
                  <a:srgbClr val="F8FAFC"/>
                </a:solidFill>
                <a:latin typeface="Aptos" pitchFamily="34" charset="0"/>
                <a:ea typeface="Aptos" pitchFamily="34" charset="-122"/>
                <a:cs typeface="Aptos" pitchFamily="34" charset="-120"/>
              </a:rPr>
              <a:t>Channels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OpenVC investor platform</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Wefunder campaign awareness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Pilot referrals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Industry webinars</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Actions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Convert investor leads to customer conversations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Launch referral incentive</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Publish pilot case studies</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Metrics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CAC: $3K-$5K</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Target: 5-10 customers = $60K-$100K MRR</a:t>
            </a:r>
            <a:endParaRPr lang="en-US" sz="1350" dirty="0"/>
          </a:p>
        </p:txBody>
      </p:sp>
      <p:sp>
        <p:nvSpPr>
          <p:cNvPr id="10" name="Text 7"/>
          <p:cNvSpPr/>
          <p:nvPr/>
        </p:nvSpPr>
        <p:spPr>
          <a:xfrm>
            <a:off x="8174736" y="1051560"/>
            <a:ext cx="1024128" cy="201168"/>
          </a:xfrm>
          <a:prstGeom prst="rect">
            <a:avLst/>
          </a:prstGeom>
          <a:solidFill>
            <a:srgbClr val="22C55E"/>
          </a:solidFill>
          <a:ln/>
        </p:spPr>
        <p:txBody>
          <a:bodyPr wrap="square" lIns="0" tIns="0" rIns="0" bIns="0" rtlCol="0" anchor="ctr"/>
          <a:lstStyle/>
          <a:p>
            <a:pPr algn="ctr" indent="0" marL="0">
              <a:buNone/>
            </a:pPr>
            <a:r>
              <a:rPr lang="en-US" sz="800" b="1" dirty="0">
                <a:solidFill>
                  <a:srgbClr val="07182D"/>
                </a:solidFill>
              </a:rPr>
              <a:t>PHASE 3</a:t>
            </a:r>
            <a:endParaRPr lang="en-US" sz="800" dirty="0"/>
          </a:p>
        </p:txBody>
      </p:sp>
      <p:sp>
        <p:nvSpPr>
          <p:cNvPr id="11" name="Text 8"/>
          <p:cNvSpPr/>
          <p:nvPr/>
        </p:nvSpPr>
        <p:spPr>
          <a:xfrm>
            <a:off x="8174736" y="1353312"/>
            <a:ext cx="3520440" cy="411480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50" b="1" dirty="0">
                <a:solidFill>
                  <a:srgbClr val="22C55E"/>
                </a:solidFill>
                <a:latin typeface="Aptos" pitchFamily="34" charset="0"/>
                <a:ea typeface="Aptos" pitchFamily="34" charset="-122"/>
                <a:cs typeface="Aptos" pitchFamily="34" charset="-120"/>
              </a:rPr>
              <a:t>Repeatable Sales
2027+
</a:t>
            </a:r>
            <a:pPr indent="0" marL="0">
              <a:buNone/>
            </a:pPr>
            <a:r>
              <a:rPr lang="en-US" sz="840" dirty="0">
                <a:solidFill>
                  <a:srgbClr val="F8FAFC"/>
                </a:solidFill>
                <a:latin typeface="Aptos" pitchFamily="34" charset="0"/>
                <a:ea typeface="Aptos" pitchFamily="34" charset="-122"/>
                <a:cs typeface="Aptos" pitchFamily="34" charset="-120"/>
              </a:rPr>
              <a:t>Channels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Sales hire with EPC experience</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Partner ecosystem</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Trade show booth presence</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SEO + case studies</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Actions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Build demo -&gt; pilot -&gt; close process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Establish channel partner program</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 Scale to 2-3 sales reps</a:t>
            </a:r>
            <a:endParaRPr lang="en-US" sz="1350" dirty="0"/>
          </a:p>
          <a:p>
            <a:pPr indent="0" marL="0">
              <a:buNone/>
            </a:pP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Metrics</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CAC: $8K-$12K</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LTV: $360K+</a:t>
            </a:r>
            <a:endParaRPr lang="en-US" sz="1350" dirty="0"/>
          </a:p>
          <a:p>
            <a:pPr indent="0" marL="0">
              <a:buNone/>
            </a:pPr>
            <a:r>
              <a:rPr lang="en-US" sz="840" dirty="0">
                <a:solidFill>
                  <a:srgbClr val="F8FAFC"/>
                </a:solidFill>
                <a:latin typeface="Aptos" pitchFamily="34" charset="0"/>
                <a:ea typeface="Aptos" pitchFamily="34" charset="-122"/>
                <a:cs typeface="Aptos" pitchFamily="34" charset="-120"/>
              </a:rPr>
              <a:t>LTV:CAC = 30:1 to 45:1</a:t>
            </a:r>
            <a:endParaRPr lang="en-US" sz="1350" dirty="0"/>
          </a:p>
        </p:txBody>
      </p:sp>
      <p:sp>
        <p:nvSpPr>
          <p:cNvPr id="12" name="Text 9"/>
          <p:cNvSpPr/>
          <p:nvPr/>
        </p:nvSpPr>
        <p:spPr>
          <a:xfrm>
            <a:off x="822960" y="5833872"/>
            <a:ext cx="10607040" cy="457200"/>
          </a:xfrm>
          <a:prstGeom prst="rect">
            <a:avLst/>
          </a:prstGeom>
          <a:solidFill>
            <a:srgbClr val="FBBF24"/>
          </a:solidFill>
          <a:ln/>
        </p:spPr>
        <p:txBody>
          <a:bodyPr wrap="square" lIns="508" tIns="508" rIns="508" bIns="508" rtlCol="0" anchor="ctr">
            <a:normAutofit/>
          </a:bodyPr>
          <a:lstStyle/>
          <a:p>
            <a:pPr algn="ctr" indent="0" marL="0">
              <a:buNone/>
            </a:pPr>
            <a:r>
              <a:rPr lang="en-US" sz="1300" b="1" dirty="0">
                <a:solidFill>
                  <a:srgbClr val="07182D"/>
                </a:solidFill>
              </a:rPr>
              <a:t>Early economics (founder-led phase):  CAC ~$2K  |  LTV $360K+  |  LTV:CAC 180:1  |  driven by warm network + domain credibility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Generic GC tools and Excel workflows leave solar-specific execution gaps</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11</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438912" y="1024128"/>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800" b="1" dirty="0">
                <a:solidFill>
                  <a:srgbClr val="FBBF24"/>
                </a:solidFill>
                <a:latin typeface="Aptos" pitchFamily="34" charset="0"/>
                <a:ea typeface="Aptos" pitchFamily="34" charset="-122"/>
                <a:cs typeface="Aptos" pitchFamily="34" charset="-120"/>
              </a:rPr>
              <a:t>Capability</a:t>
            </a:r>
            <a:endParaRPr lang="en-US" sz="800" dirty="0"/>
          </a:p>
        </p:txBody>
      </p:sp>
      <p:sp>
        <p:nvSpPr>
          <p:cNvPr id="7" name="Text 4"/>
          <p:cNvSpPr/>
          <p:nvPr/>
        </p:nvSpPr>
        <p:spPr>
          <a:xfrm>
            <a:off x="2770632" y="1024128"/>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800" b="1" dirty="0">
                <a:solidFill>
                  <a:srgbClr val="FBBF24"/>
                </a:solidFill>
                <a:latin typeface="Aptos" pitchFamily="34" charset="0"/>
                <a:ea typeface="Aptos" pitchFamily="34" charset="-122"/>
                <a:cs typeface="Aptos" pitchFamily="34" charset="-120"/>
              </a:rPr>
              <a:t>Procore</a:t>
            </a:r>
            <a:endParaRPr lang="en-US" sz="800" dirty="0"/>
          </a:p>
        </p:txBody>
      </p:sp>
      <p:sp>
        <p:nvSpPr>
          <p:cNvPr id="8" name="Text 5"/>
          <p:cNvSpPr/>
          <p:nvPr/>
        </p:nvSpPr>
        <p:spPr>
          <a:xfrm>
            <a:off x="4050792" y="1024128"/>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800" b="1" dirty="0">
                <a:solidFill>
                  <a:srgbClr val="FBBF24"/>
                </a:solidFill>
                <a:latin typeface="Aptos" pitchFamily="34" charset="0"/>
                <a:ea typeface="Aptos" pitchFamily="34" charset="-122"/>
                <a:cs typeface="Aptos" pitchFamily="34" charset="-120"/>
              </a:rPr>
              <a:t>P6</a:t>
            </a:r>
            <a:endParaRPr lang="en-US" sz="800" dirty="0"/>
          </a:p>
        </p:txBody>
      </p:sp>
      <p:sp>
        <p:nvSpPr>
          <p:cNvPr id="9" name="Text 6"/>
          <p:cNvSpPr/>
          <p:nvPr/>
        </p:nvSpPr>
        <p:spPr>
          <a:xfrm>
            <a:off x="5193792" y="1024128"/>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800" b="1" dirty="0">
                <a:solidFill>
                  <a:srgbClr val="FBBF24"/>
                </a:solidFill>
                <a:latin typeface="Aptos" pitchFamily="34" charset="0"/>
                <a:ea typeface="Aptos" pitchFamily="34" charset="-122"/>
                <a:cs typeface="Aptos" pitchFamily="34" charset="-120"/>
              </a:rPr>
              <a:t>Buildertrend</a:t>
            </a:r>
            <a:endParaRPr lang="en-US" sz="800" dirty="0"/>
          </a:p>
        </p:txBody>
      </p:sp>
      <p:sp>
        <p:nvSpPr>
          <p:cNvPr id="10" name="Text 7"/>
          <p:cNvSpPr/>
          <p:nvPr/>
        </p:nvSpPr>
        <p:spPr>
          <a:xfrm>
            <a:off x="6748272" y="1024128"/>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800" b="1" dirty="0">
                <a:solidFill>
                  <a:srgbClr val="FBBF24"/>
                </a:solidFill>
                <a:latin typeface="Aptos" pitchFamily="34" charset="0"/>
                <a:ea typeface="Aptos" pitchFamily="34" charset="-122"/>
                <a:cs typeface="Aptos" pitchFamily="34" charset="-120"/>
              </a:rPr>
              <a:t>Excel + Email</a:t>
            </a:r>
            <a:endParaRPr lang="en-US" sz="800" dirty="0"/>
          </a:p>
        </p:txBody>
      </p:sp>
      <p:sp>
        <p:nvSpPr>
          <p:cNvPr id="11" name="Text 8"/>
          <p:cNvSpPr/>
          <p:nvPr/>
        </p:nvSpPr>
        <p:spPr>
          <a:xfrm>
            <a:off x="8302752" y="1024128"/>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800" b="1" dirty="0">
                <a:solidFill>
                  <a:srgbClr val="FBBF24"/>
                </a:solidFill>
                <a:latin typeface="Aptos" pitchFamily="34" charset="0"/>
                <a:ea typeface="Aptos" pitchFamily="34" charset="-122"/>
                <a:cs typeface="Aptos" pitchFamily="34" charset="-120"/>
              </a:rPr>
              <a:t>Meridian</a:t>
            </a:r>
            <a:endParaRPr lang="en-US" sz="800" dirty="0"/>
          </a:p>
        </p:txBody>
      </p:sp>
      <p:sp>
        <p:nvSpPr>
          <p:cNvPr id="12" name="Text 9"/>
          <p:cNvSpPr/>
          <p:nvPr/>
        </p:nvSpPr>
        <p:spPr>
          <a:xfrm>
            <a:off x="438912" y="1289304"/>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Solar-specific workflows</a:t>
            </a:r>
            <a:endParaRPr lang="en-US" sz="740" dirty="0"/>
          </a:p>
        </p:txBody>
      </p:sp>
      <p:sp>
        <p:nvSpPr>
          <p:cNvPr id="13" name="Text 10"/>
          <p:cNvSpPr/>
          <p:nvPr/>
        </p:nvSpPr>
        <p:spPr>
          <a:xfrm>
            <a:off x="2770632" y="1289304"/>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14" name="Text 11"/>
          <p:cNvSpPr/>
          <p:nvPr/>
        </p:nvSpPr>
        <p:spPr>
          <a:xfrm>
            <a:off x="4050792" y="1289304"/>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15" name="Text 12"/>
          <p:cNvSpPr/>
          <p:nvPr/>
        </p:nvSpPr>
        <p:spPr>
          <a:xfrm>
            <a:off x="5193792" y="1289304"/>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16" name="Text 13"/>
          <p:cNvSpPr/>
          <p:nvPr/>
        </p:nvSpPr>
        <p:spPr>
          <a:xfrm>
            <a:off x="6748272" y="1289304"/>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17" name="Text 14"/>
          <p:cNvSpPr/>
          <p:nvPr/>
        </p:nvSpPr>
        <p:spPr>
          <a:xfrm>
            <a:off x="8302752" y="1289304"/>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18" name="Text 15"/>
          <p:cNvSpPr/>
          <p:nvPr/>
        </p:nvSpPr>
        <p:spPr>
          <a:xfrm>
            <a:off x="438912" y="1554480"/>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AI schedule generation</a:t>
            </a:r>
            <a:endParaRPr lang="en-US" sz="740" dirty="0"/>
          </a:p>
        </p:txBody>
      </p:sp>
      <p:sp>
        <p:nvSpPr>
          <p:cNvPr id="19" name="Text 16"/>
          <p:cNvSpPr/>
          <p:nvPr/>
        </p:nvSpPr>
        <p:spPr>
          <a:xfrm>
            <a:off x="2770632" y="1554480"/>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0" name="Text 17"/>
          <p:cNvSpPr/>
          <p:nvPr/>
        </p:nvSpPr>
        <p:spPr>
          <a:xfrm>
            <a:off x="4050792" y="1554480"/>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1" name="Text 18"/>
          <p:cNvSpPr/>
          <p:nvPr/>
        </p:nvSpPr>
        <p:spPr>
          <a:xfrm>
            <a:off x="5193792" y="1554480"/>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2" name="Text 19"/>
          <p:cNvSpPr/>
          <p:nvPr/>
        </p:nvSpPr>
        <p:spPr>
          <a:xfrm>
            <a:off x="6748272" y="1554480"/>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3" name="Text 20"/>
          <p:cNvSpPr/>
          <p:nvPr/>
        </p:nvSpPr>
        <p:spPr>
          <a:xfrm>
            <a:off x="8302752" y="1554480"/>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24" name="Text 21"/>
          <p:cNvSpPr/>
          <p:nvPr/>
        </p:nvSpPr>
        <p:spPr>
          <a:xfrm>
            <a:off x="438912" y="1819656"/>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AI inspection templates</a:t>
            </a:r>
            <a:endParaRPr lang="en-US" sz="740" dirty="0"/>
          </a:p>
        </p:txBody>
      </p:sp>
      <p:sp>
        <p:nvSpPr>
          <p:cNvPr id="25" name="Text 22"/>
          <p:cNvSpPr/>
          <p:nvPr/>
        </p:nvSpPr>
        <p:spPr>
          <a:xfrm>
            <a:off x="2770632" y="1819656"/>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6" name="Text 23"/>
          <p:cNvSpPr/>
          <p:nvPr/>
        </p:nvSpPr>
        <p:spPr>
          <a:xfrm>
            <a:off x="4050792" y="1819656"/>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7" name="Text 24"/>
          <p:cNvSpPr/>
          <p:nvPr/>
        </p:nvSpPr>
        <p:spPr>
          <a:xfrm>
            <a:off x="5193792" y="1819656"/>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8" name="Text 25"/>
          <p:cNvSpPr/>
          <p:nvPr/>
        </p:nvSpPr>
        <p:spPr>
          <a:xfrm>
            <a:off x="6748272" y="1819656"/>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29" name="Text 26"/>
          <p:cNvSpPr/>
          <p:nvPr/>
        </p:nvSpPr>
        <p:spPr>
          <a:xfrm>
            <a:off x="8302752" y="1819656"/>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30" name="Text 27"/>
          <p:cNvSpPr/>
          <p:nvPr/>
        </p:nvSpPr>
        <p:spPr>
          <a:xfrm>
            <a:off x="438912" y="2084832"/>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Integrated closeout</a:t>
            </a:r>
            <a:endParaRPr lang="en-US" sz="740" dirty="0"/>
          </a:p>
        </p:txBody>
      </p:sp>
      <p:sp>
        <p:nvSpPr>
          <p:cNvPr id="31" name="Text 28"/>
          <p:cNvSpPr/>
          <p:nvPr/>
        </p:nvSpPr>
        <p:spPr>
          <a:xfrm>
            <a:off x="2770632" y="2084832"/>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Partial</a:t>
            </a:r>
            <a:endParaRPr lang="en-US" sz="740" dirty="0"/>
          </a:p>
        </p:txBody>
      </p:sp>
      <p:sp>
        <p:nvSpPr>
          <p:cNvPr id="32" name="Text 29"/>
          <p:cNvSpPr/>
          <p:nvPr/>
        </p:nvSpPr>
        <p:spPr>
          <a:xfrm>
            <a:off x="4050792" y="2084832"/>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33" name="Text 30"/>
          <p:cNvSpPr/>
          <p:nvPr/>
        </p:nvSpPr>
        <p:spPr>
          <a:xfrm>
            <a:off x="5193792" y="2084832"/>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Partial</a:t>
            </a:r>
            <a:endParaRPr lang="en-US" sz="740" dirty="0"/>
          </a:p>
        </p:txBody>
      </p:sp>
      <p:sp>
        <p:nvSpPr>
          <p:cNvPr id="34" name="Text 31"/>
          <p:cNvSpPr/>
          <p:nvPr/>
        </p:nvSpPr>
        <p:spPr>
          <a:xfrm>
            <a:off x="6748272" y="2084832"/>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35" name="Text 32"/>
          <p:cNvSpPr/>
          <p:nvPr/>
        </p:nvSpPr>
        <p:spPr>
          <a:xfrm>
            <a:off x="8302752" y="2084832"/>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36" name="Text 33"/>
          <p:cNvSpPr/>
          <p:nvPr/>
        </p:nvSpPr>
        <p:spPr>
          <a:xfrm>
            <a:off x="438912" y="2350008"/>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Learns from project data</a:t>
            </a:r>
            <a:endParaRPr lang="en-US" sz="740" dirty="0"/>
          </a:p>
        </p:txBody>
      </p:sp>
      <p:sp>
        <p:nvSpPr>
          <p:cNvPr id="37" name="Text 34"/>
          <p:cNvSpPr/>
          <p:nvPr/>
        </p:nvSpPr>
        <p:spPr>
          <a:xfrm>
            <a:off x="2770632" y="2350008"/>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38" name="Text 35"/>
          <p:cNvSpPr/>
          <p:nvPr/>
        </p:nvSpPr>
        <p:spPr>
          <a:xfrm>
            <a:off x="4050792" y="2350008"/>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39" name="Text 36"/>
          <p:cNvSpPr/>
          <p:nvPr/>
        </p:nvSpPr>
        <p:spPr>
          <a:xfrm>
            <a:off x="5193792" y="2350008"/>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40" name="Text 37"/>
          <p:cNvSpPr/>
          <p:nvPr/>
        </p:nvSpPr>
        <p:spPr>
          <a:xfrm>
            <a:off x="6748272" y="2350008"/>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41" name="Text 38"/>
          <p:cNvSpPr/>
          <p:nvPr/>
        </p:nvSpPr>
        <p:spPr>
          <a:xfrm>
            <a:off x="8302752" y="2350008"/>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42" name="Text 39"/>
          <p:cNvSpPr/>
          <p:nvPr/>
        </p:nvSpPr>
        <p:spPr>
          <a:xfrm>
            <a:off x="438912" y="2615184"/>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Field-ready mobile interface</a:t>
            </a:r>
            <a:endParaRPr lang="en-US" sz="740" dirty="0"/>
          </a:p>
        </p:txBody>
      </p:sp>
      <p:sp>
        <p:nvSpPr>
          <p:cNvPr id="43" name="Text 40"/>
          <p:cNvSpPr/>
          <p:nvPr/>
        </p:nvSpPr>
        <p:spPr>
          <a:xfrm>
            <a:off x="2770632" y="2615184"/>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Yes</a:t>
            </a:r>
            <a:endParaRPr lang="en-US" sz="740" dirty="0"/>
          </a:p>
        </p:txBody>
      </p:sp>
      <p:sp>
        <p:nvSpPr>
          <p:cNvPr id="44" name="Text 41"/>
          <p:cNvSpPr/>
          <p:nvPr/>
        </p:nvSpPr>
        <p:spPr>
          <a:xfrm>
            <a:off x="4050792" y="2615184"/>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45" name="Text 42"/>
          <p:cNvSpPr/>
          <p:nvPr/>
        </p:nvSpPr>
        <p:spPr>
          <a:xfrm>
            <a:off x="5193792" y="2615184"/>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Yes</a:t>
            </a:r>
            <a:endParaRPr lang="en-US" sz="740" dirty="0"/>
          </a:p>
        </p:txBody>
      </p:sp>
      <p:sp>
        <p:nvSpPr>
          <p:cNvPr id="46" name="Text 43"/>
          <p:cNvSpPr/>
          <p:nvPr/>
        </p:nvSpPr>
        <p:spPr>
          <a:xfrm>
            <a:off x="6748272" y="2615184"/>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No</a:t>
            </a:r>
            <a:endParaRPr lang="en-US" sz="740" dirty="0"/>
          </a:p>
        </p:txBody>
      </p:sp>
      <p:sp>
        <p:nvSpPr>
          <p:cNvPr id="47" name="Text 44"/>
          <p:cNvSpPr/>
          <p:nvPr/>
        </p:nvSpPr>
        <p:spPr>
          <a:xfrm>
            <a:off x="8302752" y="2615184"/>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Yes</a:t>
            </a:r>
            <a:endParaRPr lang="en-US" sz="740" dirty="0"/>
          </a:p>
        </p:txBody>
      </p:sp>
      <p:sp>
        <p:nvSpPr>
          <p:cNvPr id="48" name="Text 45"/>
          <p:cNvSpPr/>
          <p:nvPr/>
        </p:nvSpPr>
        <p:spPr>
          <a:xfrm>
            <a:off x="438912" y="2880360"/>
            <a:ext cx="233172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l" indent="0" marL="0">
              <a:buNone/>
            </a:pPr>
            <a:r>
              <a:rPr lang="en-US" sz="740" b="1" dirty="0">
                <a:solidFill>
                  <a:srgbClr val="F8FAFC"/>
                </a:solidFill>
                <a:latin typeface="Aptos" pitchFamily="34" charset="0"/>
                <a:ea typeface="Aptos" pitchFamily="34" charset="-122"/>
                <a:cs typeface="Aptos" pitchFamily="34" charset="-120"/>
              </a:rPr>
              <a:t>Target customer</a:t>
            </a:r>
            <a:endParaRPr lang="en-US" sz="740" dirty="0"/>
          </a:p>
        </p:txBody>
      </p:sp>
      <p:sp>
        <p:nvSpPr>
          <p:cNvPr id="49" name="Text 46"/>
          <p:cNvSpPr/>
          <p:nvPr/>
        </p:nvSpPr>
        <p:spPr>
          <a:xfrm>
            <a:off x="2770632" y="2880360"/>
            <a:ext cx="128016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All GCs</a:t>
            </a:r>
            <a:endParaRPr lang="en-US" sz="740" dirty="0"/>
          </a:p>
        </p:txBody>
      </p:sp>
      <p:sp>
        <p:nvSpPr>
          <p:cNvPr id="50" name="Text 47"/>
          <p:cNvSpPr/>
          <p:nvPr/>
        </p:nvSpPr>
        <p:spPr>
          <a:xfrm>
            <a:off x="4050792" y="2880360"/>
            <a:ext cx="114300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All industries</a:t>
            </a:r>
            <a:endParaRPr lang="en-US" sz="740" dirty="0"/>
          </a:p>
        </p:txBody>
      </p:sp>
      <p:sp>
        <p:nvSpPr>
          <p:cNvPr id="51" name="Text 48"/>
          <p:cNvSpPr/>
          <p:nvPr/>
        </p:nvSpPr>
        <p:spPr>
          <a:xfrm>
            <a:off x="5193792" y="2880360"/>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Residential</a:t>
            </a:r>
            <a:endParaRPr lang="en-US" sz="740" dirty="0"/>
          </a:p>
        </p:txBody>
      </p:sp>
      <p:sp>
        <p:nvSpPr>
          <p:cNvPr id="52" name="Text 49"/>
          <p:cNvSpPr/>
          <p:nvPr/>
        </p:nvSpPr>
        <p:spPr>
          <a:xfrm>
            <a:off x="6748272" y="2880360"/>
            <a:ext cx="1554480" cy="265176"/>
          </a:xfrm>
          <a:prstGeom prst="rect">
            <a:avLst/>
          </a:prstGeom>
          <a:solidFill>
            <a:srgbClr val="0D223B">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dirty="0">
                <a:solidFill>
                  <a:srgbClr val="F8FAFC"/>
                </a:solidFill>
                <a:latin typeface="Aptos" pitchFamily="34" charset="0"/>
                <a:ea typeface="Aptos" pitchFamily="34" charset="-122"/>
                <a:cs typeface="Aptos" pitchFamily="34" charset="-120"/>
              </a:rPr>
              <a:t>Anyone</a:t>
            </a:r>
            <a:endParaRPr lang="en-US" sz="740" dirty="0"/>
          </a:p>
        </p:txBody>
      </p:sp>
      <p:sp>
        <p:nvSpPr>
          <p:cNvPr id="53" name="Text 50"/>
          <p:cNvSpPr/>
          <p:nvPr/>
        </p:nvSpPr>
        <p:spPr>
          <a:xfrm>
            <a:off x="8302752" y="2880360"/>
            <a:ext cx="1417320" cy="265176"/>
          </a:xfrm>
          <a:prstGeom prst="rect">
            <a:avLst/>
          </a:prstGeom>
          <a:solidFill>
            <a:srgbClr val="102B4A">
              <a:alpha val="98000"/>
            </a:srgbClr>
          </a:solidFill>
          <a:ln w="6985">
            <a:solidFill>
              <a:srgbClr val="264766">
                <a:alpha val="80000"/>
              </a:srgbClr>
            </a:solidFill>
          </a:ln>
        </p:spPr>
        <p:txBody>
          <a:bodyPr wrap="square" lIns="445" tIns="445" rIns="445" bIns="445" rtlCol="0" anchor="ctr">
            <a:normAutofit/>
          </a:bodyPr>
          <a:lstStyle/>
          <a:p>
            <a:pPr algn="ctr" indent="0" marL="0">
              <a:buNone/>
            </a:pPr>
            <a:r>
              <a:rPr lang="en-US" sz="740" b="1" dirty="0">
                <a:solidFill>
                  <a:srgbClr val="FBBF24"/>
                </a:solidFill>
                <a:latin typeface="Aptos" pitchFamily="34" charset="0"/>
                <a:ea typeface="Aptos" pitchFamily="34" charset="-122"/>
                <a:cs typeface="Aptos" pitchFamily="34" charset="-120"/>
              </a:rPr>
              <a:t>Solar EPC</a:t>
            </a:r>
            <a:endParaRPr lang="en-US" sz="740" dirty="0"/>
          </a:p>
        </p:txBody>
      </p:sp>
      <p:sp>
        <p:nvSpPr>
          <p:cNvPr id="54" name="Text 51"/>
          <p:cNvSpPr/>
          <p:nvPr/>
        </p:nvSpPr>
        <p:spPr>
          <a:xfrm>
            <a:off x="566928" y="3657600"/>
            <a:ext cx="3520440" cy="15087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30" b="1" dirty="0">
                <a:solidFill>
                  <a:srgbClr val="FBBF24"/>
                </a:solidFill>
                <a:latin typeface="Aptos" pitchFamily="34" charset="0"/>
                <a:ea typeface="Aptos" pitchFamily="34" charset="-122"/>
                <a:cs typeface="Aptos" pitchFamily="34" charset="-120"/>
              </a:rPr>
              <a:t>Status quo is the real competitor
</a:t>
            </a:r>
            <a:pPr indent="0" marL="0">
              <a:buNone/>
            </a:pPr>
            <a:r>
              <a:rPr lang="en-US" sz="950" dirty="0">
                <a:solidFill>
                  <a:srgbClr val="F8FAFC"/>
                </a:solidFill>
                <a:latin typeface="Aptos" pitchFamily="34" charset="0"/>
                <a:ea typeface="Aptos" pitchFamily="34" charset="-122"/>
                <a:cs typeface="Aptos" pitchFamily="34" charset="-120"/>
              </a:rPr>
              <a:t>Most solar EPCs still use Excel + email + manual templates. Meridian replaces the fragmented operating layer, not just one software tool.</a:t>
            </a:r>
            <a:endParaRPr lang="en-US" sz="1330" dirty="0"/>
          </a:p>
        </p:txBody>
      </p:sp>
      <p:sp>
        <p:nvSpPr>
          <p:cNvPr id="55" name="Text 52"/>
          <p:cNvSpPr/>
          <p:nvPr/>
        </p:nvSpPr>
        <p:spPr>
          <a:xfrm>
            <a:off x="4343400" y="3657600"/>
            <a:ext cx="3520440" cy="15087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30" b="1" dirty="0">
                <a:solidFill>
                  <a:srgbClr val="FBBF24"/>
                </a:solidFill>
                <a:latin typeface="Aptos" pitchFamily="34" charset="0"/>
                <a:ea typeface="Aptos" pitchFamily="34" charset="-122"/>
                <a:cs typeface="Aptos" pitchFamily="34" charset="-120"/>
              </a:rPr>
              <a:t>Generic tools fall short
</a:t>
            </a:r>
            <a:pPr indent="0" marL="0">
              <a:buNone/>
            </a:pPr>
            <a:r>
              <a:rPr lang="en-US" sz="950" dirty="0">
                <a:solidFill>
                  <a:srgbClr val="F8FAFC"/>
                </a:solidFill>
                <a:latin typeface="Aptos" pitchFamily="34" charset="0"/>
                <a:ea typeface="Aptos" pitchFamily="34" charset="-122"/>
                <a:cs typeface="Aptos" pitchFamily="34" charset="-120"/>
              </a:rPr>
              <a:t>Horizontal platforms do not understand NTP delays, COD risk, AHJ coordination, inverter commissioning, or EPC contract structures.</a:t>
            </a:r>
            <a:endParaRPr lang="en-US" sz="1330" dirty="0"/>
          </a:p>
        </p:txBody>
      </p:sp>
      <p:sp>
        <p:nvSpPr>
          <p:cNvPr id="56" name="Text 53"/>
          <p:cNvSpPr/>
          <p:nvPr/>
        </p:nvSpPr>
        <p:spPr>
          <a:xfrm>
            <a:off x="8119872" y="3657600"/>
            <a:ext cx="3520440" cy="150876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330" b="1" dirty="0">
                <a:solidFill>
                  <a:srgbClr val="FBBF24"/>
                </a:solidFill>
                <a:latin typeface="Aptos" pitchFamily="34" charset="0"/>
                <a:ea typeface="Aptos" pitchFamily="34" charset="-122"/>
                <a:cs typeface="Aptos" pitchFamily="34" charset="-120"/>
              </a:rPr>
              <a:t>Vertical AI moat
</a:t>
            </a:r>
            <a:pPr indent="0" marL="0">
              <a:buNone/>
            </a:pPr>
            <a:r>
              <a:rPr lang="en-US" sz="950" dirty="0">
                <a:solidFill>
                  <a:srgbClr val="F8FAFC"/>
                </a:solidFill>
                <a:latin typeface="Aptos" pitchFamily="34" charset="0"/>
                <a:ea typeface="Aptos" pitchFamily="34" charset="-122"/>
                <a:cs typeface="Aptos" pitchFamily="34" charset="-120"/>
              </a:rPr>
              <a:t>Solar-specific workflows + AI automation + contractor learning loop create a data advantage that improves by project 3-5.</a:t>
            </a:r>
            <a:endParaRPr lang="en-US" sz="1330" dirty="0"/>
          </a:p>
        </p:txBody>
      </p:sp>
      <p:sp>
        <p:nvSpPr>
          <p:cNvPr id="57" name="Text 54"/>
          <p:cNvSpPr/>
          <p:nvPr/>
        </p:nvSpPr>
        <p:spPr>
          <a:xfrm>
            <a:off x="1005840" y="5806440"/>
            <a:ext cx="10149840" cy="320040"/>
          </a:xfrm>
          <a:prstGeom prst="rect">
            <a:avLst/>
          </a:prstGeom>
          <a:noFill/>
          <a:ln/>
        </p:spPr>
        <p:txBody>
          <a:bodyPr wrap="square" lIns="254" tIns="254" rIns="254" bIns="254" rtlCol="0" anchor="ctr">
            <a:normAutofit/>
          </a:bodyPr>
          <a:lstStyle/>
          <a:p>
            <a:pPr algn="ctr" indent="0" marL="0">
              <a:buNone/>
            </a:pPr>
            <a:r>
              <a:rPr lang="en-US" sz="1550" b="1" dirty="0">
                <a:solidFill>
                  <a:srgbClr val="FBBF24"/>
                </a:solidFill>
              </a:rPr>
              <a:t>Solar EPC contractors pay Procore-level prices but receive little solar-specific intelligence. Meridian fills that gap.</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82D"/>
        </a:solidFill>
      </p:bgPr>
    </p:bg>
    <p:spTree>
      <p:nvGrpSpPr>
        <p:cNvPr id="1" name=""/>
        <p:cNvGrpSpPr/>
        <p:nvPr/>
      </p:nvGrpSpPr>
      <p:grpSpPr>
        <a:xfrm>
          <a:off x="0" y="0"/>
          <a:ext cx="0" cy="0"/>
          <a:chOff x="0" y="0"/>
          <a:chExt cx="0" cy="0"/>
        </a:xfrm>
      </p:grpSpPr>
      <p:pic>
        <p:nvPicPr>
          <p:cNvPr id="2" name="Image 0" descr="/mnt/data/landscape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320040" y="210312"/>
            <a:ext cx="420624" cy="420624"/>
          </a:xfrm>
          <a:prstGeom prst="rect">
            <a:avLst/>
          </a:prstGeom>
        </p:spPr>
      </p:pic>
      <p:sp>
        <p:nvSpPr>
          <p:cNvPr id="4"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Built by someone who has lived the solar EPC problem for 8 years</a:t>
            </a:r>
            <a:endParaRPr lang="en-US" sz="2300" dirty="0"/>
          </a:p>
        </p:txBody>
      </p:sp>
      <p:sp>
        <p:nvSpPr>
          <p:cNvPr id="5"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12</a:t>
            </a:r>
            <a:endParaRPr lang="en-US" sz="850" dirty="0"/>
          </a:p>
        </p:txBody>
      </p:sp>
      <p:sp>
        <p:nvSpPr>
          <p:cNvPr id="6" name="Shape 2"/>
          <p:cNvSpPr/>
          <p:nvPr/>
        </p:nvSpPr>
        <p:spPr>
          <a:xfrm>
            <a:off x="320040" y="804672"/>
            <a:ext cx="11384280" cy="0"/>
          </a:xfrm>
          <a:prstGeom prst="line">
            <a:avLst/>
          </a:prstGeom>
          <a:noFill/>
          <a:ln w="12700">
            <a:solidFill>
              <a:srgbClr val="264766">
                <a:alpha val="75000"/>
              </a:srgbClr>
            </a:solidFill>
            <a:prstDash val="solid"/>
          </a:ln>
        </p:spPr>
      </p:sp>
      <p:pic>
        <p:nvPicPr>
          <p:cNvPr id="13" name="Picture 12" descr="hardhat_square_option_0.jpg"/>
          <p:cNvPicPr>
            <a:picLocks noChangeAspect="1"/>
          </p:cNvPicPr>
          <p:nvPr/>
        </p:nvPicPr>
        <p:blipFill>
          <a:blip r:embed="rId6"/>
          <a:stretch>
            <a:fillRect/>
          </a:stretch>
        </p:blipFill>
        <p:spPr>
          <a:xfrm>
            <a:off x="777240" y="1280160"/>
            <a:ext cx="2057400" cy="2057400"/>
          </a:xfrm>
          <a:prstGeom prst="rect">
            <a:avLst/>
          </a:prstGeom>
        </p:spPr>
      </p:pic>
      <p:sp>
        <p:nvSpPr>
          <p:cNvPr id="8" name="Text 3"/>
          <p:cNvSpPr/>
          <p:nvPr/>
        </p:nvSpPr>
        <p:spPr>
          <a:xfrm>
            <a:off x="3063240" y="1298448"/>
            <a:ext cx="4846320" cy="365760"/>
          </a:xfrm>
          <a:prstGeom prst="rect">
            <a:avLst/>
          </a:prstGeom>
          <a:noFill/>
          <a:ln/>
        </p:spPr>
        <p:txBody>
          <a:bodyPr wrap="square" lIns="0" tIns="0" rIns="0" bIns="0" rtlCol="0" anchor="ctr"/>
          <a:lstStyle/>
          <a:p>
            <a:pPr indent="0" marL="0">
              <a:buNone/>
            </a:pPr>
            <a:r>
              <a:rPr lang="en-US" sz="2600" b="1" dirty="0">
                <a:solidFill>
                  <a:srgbClr val="FBBF24"/>
                </a:solidFill>
              </a:rPr>
              <a:t>CHRIS FRYE</a:t>
            </a:r>
            <a:endParaRPr lang="en-US" sz="2600" dirty="0"/>
          </a:p>
        </p:txBody>
      </p:sp>
      <p:sp>
        <p:nvSpPr>
          <p:cNvPr id="9" name="Text 4"/>
          <p:cNvSpPr/>
          <p:nvPr/>
        </p:nvSpPr>
        <p:spPr>
          <a:xfrm>
            <a:off x="3090672" y="1719072"/>
            <a:ext cx="5120640" cy="219456"/>
          </a:xfrm>
          <a:prstGeom prst="rect">
            <a:avLst/>
          </a:prstGeom>
          <a:noFill/>
          <a:ln/>
        </p:spPr>
        <p:txBody>
          <a:bodyPr wrap="square" lIns="0" tIns="0" rIns="0" bIns="0" rtlCol="0" anchor="ctr"/>
          <a:lstStyle/>
          <a:p>
            <a:pPr indent="0" marL="0">
              <a:buNone/>
            </a:pPr>
            <a:r>
              <a:rPr lang="en-US" sz="1250" dirty="0">
                <a:solidFill>
                  <a:srgbClr val="F8FAFC"/>
                </a:solidFill>
              </a:rPr>
              <a:t>Founder &amp; CEO - Meridian Field Command</a:t>
            </a:r>
            <a:endParaRPr lang="en-US" sz="1250" dirty="0"/>
          </a:p>
        </p:txBody>
      </p:sp>
      <p:sp>
        <p:nvSpPr>
          <p:cNvPr id="10" name="Text 5"/>
          <p:cNvSpPr/>
          <p:nvPr/>
        </p:nvSpPr>
        <p:spPr>
          <a:xfrm>
            <a:off x="3063240" y="2148840"/>
            <a:ext cx="402336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Founder-market fit
</a:t>
            </a:r>
            <a:pPr indent="0" marL="0">
              <a:buNone/>
            </a:pPr>
            <a:r>
              <a:rPr lang="en-US" sz="1120" dirty="0">
                <a:solidFill>
                  <a:srgbClr val="F8FAFC"/>
                </a:solidFill>
                <a:latin typeface="Aptos" pitchFamily="34" charset="0"/>
                <a:ea typeface="Aptos" pitchFamily="34" charset="-122"/>
                <a:cs typeface="Aptos" pitchFamily="34" charset="-120"/>
              </a:rPr>
              <a:t>15 years total construction experience</a:t>
            </a:r>
            <a:endParaRPr lang="en-US" sz="1500" dirty="0"/>
          </a:p>
          <a:p>
            <a:pPr indent="0" marL="0">
              <a:buNone/>
            </a:pPr>
            <a:r>
              <a:rPr lang="en-US" sz="1120" dirty="0">
                <a:solidFill>
                  <a:srgbClr val="F8FAFC"/>
                </a:solidFill>
                <a:latin typeface="Aptos" pitchFamily="34" charset="0"/>
                <a:ea typeface="Aptos" pitchFamily="34" charset="-122"/>
                <a:cs typeface="Aptos" pitchFamily="34" charset="-120"/>
              </a:rPr>
              <a:t>8 years in solar EPC execution</a:t>
            </a:r>
            <a:endParaRPr lang="en-US" sz="1500" dirty="0"/>
          </a:p>
          <a:p>
            <a:pPr indent="0" marL="0">
              <a:buNone/>
            </a:pPr>
            <a:r>
              <a:rPr lang="en-US" sz="1120" dirty="0">
                <a:solidFill>
                  <a:srgbClr val="F8FAFC"/>
                </a:solidFill>
                <a:latin typeface="Aptos" pitchFamily="34" charset="0"/>
                <a:ea typeface="Aptos" pitchFamily="34" charset="-122"/>
                <a:cs typeface="Aptos" pitchFamily="34" charset="-120"/>
              </a:rPr>
              <a:t>Quality management specialist who built QMS systems and inspection workflows</a:t>
            </a:r>
            <a:endParaRPr lang="en-US" sz="1500" dirty="0"/>
          </a:p>
          <a:p>
            <a:pPr indent="0" marL="0">
              <a:buNone/>
            </a:pPr>
            <a:r>
              <a:rPr lang="en-US" sz="1120" dirty="0">
                <a:solidFill>
                  <a:srgbClr val="F8FAFC"/>
                </a:solidFill>
                <a:latin typeface="Aptos" pitchFamily="34" charset="0"/>
                <a:ea typeface="Aptos" pitchFamily="34" charset="-122"/>
                <a:cs typeface="Aptos" pitchFamily="34" charset="-120"/>
              </a:rPr>
              <a:t>Lived the problem: manual schedules, lost RFIs, inspection chaos, closeout pressure</a:t>
            </a:r>
            <a:endParaRPr lang="en-US" sz="1500" dirty="0"/>
          </a:p>
        </p:txBody>
      </p:sp>
      <p:sp>
        <p:nvSpPr>
          <p:cNvPr id="11" name="Text 6"/>
          <p:cNvSpPr/>
          <p:nvPr/>
        </p:nvSpPr>
        <p:spPr>
          <a:xfrm>
            <a:off x="7726680" y="2148840"/>
            <a:ext cx="3566160" cy="237744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Why this founder can win
</a:t>
            </a:r>
            <a:pPr indent="0" marL="0">
              <a:buNone/>
            </a:pPr>
            <a:r>
              <a:rPr lang="en-US" sz="1200" dirty="0">
                <a:solidFill>
                  <a:srgbClr val="F8FAFC"/>
                </a:solidFill>
                <a:latin typeface="Aptos" pitchFamily="34" charset="0"/>
                <a:ea typeface="Aptos" pitchFamily="34" charset="-122"/>
                <a:cs typeface="Aptos" pitchFamily="34" charset="-120"/>
              </a:rPr>
              <a:t>Meridian is not a generic project management tool adapted for construction. It is being built from real solar EPC workflows by someone who has managed field execution, quality documentation, contract requirements, and project handoff under real schedule pressure.</a:t>
            </a:r>
            <a:endParaRPr lang="en-US" sz="1500" dirty="0"/>
          </a:p>
        </p:txBody>
      </p:sp>
      <p:sp>
        <p:nvSpPr>
          <p:cNvPr id="12" name="Text 7"/>
          <p:cNvSpPr/>
          <p:nvPr/>
        </p:nvSpPr>
        <p:spPr>
          <a:xfrm>
            <a:off x="1005840" y="5257800"/>
            <a:ext cx="10195560" cy="548640"/>
          </a:xfrm>
          <a:prstGeom prst="rect">
            <a:avLst/>
          </a:prstGeom>
          <a:noFill/>
          <a:ln/>
        </p:spPr>
        <p:txBody>
          <a:bodyPr wrap="square" lIns="381" tIns="381" rIns="381" bIns="381" rtlCol="0" anchor="ctr">
            <a:normAutofit/>
          </a:bodyPr>
          <a:lstStyle/>
          <a:p>
            <a:pPr algn="ctr" indent="0" marL="0">
              <a:buNone/>
            </a:pPr>
            <a:r>
              <a:rPr lang="en-US" sz="1800" i="1" dirty="0">
                <a:solidFill>
                  <a:srgbClr val="F8FAFC"/>
                </a:solidFill>
              </a:rPr>
              <a:t>"I watched contractors lose money because their tools were not built for solar. Meridian is the platform I needed in the field."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82D"/>
        </a:solidFill>
      </p:bgPr>
    </p:bg>
    <p:spTree>
      <p:nvGrpSpPr>
        <p:cNvPr id="1" name=""/>
        <p:cNvGrpSpPr/>
        <p:nvPr/>
      </p:nvGrpSpPr>
      <p:grpSpPr>
        <a:xfrm>
          <a:off x="0" y="0"/>
          <a:ext cx="0" cy="0"/>
          <a:chOff x="0" y="0"/>
          <a:chExt cx="0" cy="0"/>
        </a:xfrm>
      </p:grpSpPr>
      <p:pic>
        <p:nvPicPr>
          <p:cNvPr id="2" name="Image 0" descr="/mnt/data/meridian_logo_600.jpg">    </p:cNvPr>
          <p:cNvPicPr>
            <a:picLocks noChangeAspect="1"/>
          </p:cNvPicPr>
          <p:nvPr/>
        </p:nvPicPr>
        <p:blipFill>
          <a:blip r:embed="rId1"/>
          <a:stretch>
            <a:fillRect/>
          </a:stretch>
        </p:blipFill>
        <p:spPr>
          <a:xfrm>
            <a:off x="320040" y="210312"/>
            <a:ext cx="420624" cy="420624"/>
          </a:xfrm>
          <a:prstGeom prst="rect">
            <a:avLst/>
          </a:prstGeom>
        </p:spPr>
      </p:pic>
      <p:sp>
        <p:nvSpPr>
          <p:cNvPr id="3" name="Text 0"/>
          <p:cNvSpPr/>
          <p:nvPr/>
        </p:nvSpPr>
        <p:spPr>
          <a:xfrm>
            <a:off x="868680" y="192024"/>
            <a:ext cx="9966960" cy="420624"/>
          </a:xfrm>
          <a:prstGeom prst="rect">
            <a:avLst/>
          </a:prstGeom>
          <a:noFill/>
          <a:ln/>
        </p:spPr>
        <p:txBody>
          <a:bodyPr wrap="square" lIns="0" tIns="0" rIns="0" bIns="0" rtlCol="0" anchor="ctr">
            <a:normAutofit/>
          </a:bodyPr>
          <a:lstStyle/>
          <a:p>
            <a:pPr indent="0" marL="0">
              <a:buNone/>
            </a:pPr>
            <a:r>
              <a:rPr lang="en-US" sz="2300" b="1" dirty="0">
                <a:solidFill>
                  <a:srgbClr val="F8FAFC"/>
                </a:solidFill>
                <a:latin typeface="Aptos Display" pitchFamily="34" charset="0"/>
                <a:ea typeface="Aptos Display" pitchFamily="34" charset="-122"/>
                <a:cs typeface="Aptos Display" pitchFamily="34" charset="-120"/>
              </a:rPr>
              <a:t>Raising $120K to convert pilots and validate repeatable revenue</a:t>
            </a:r>
            <a:endParaRPr lang="en-US" sz="2300" dirty="0"/>
          </a:p>
        </p:txBody>
      </p:sp>
      <p:sp>
        <p:nvSpPr>
          <p:cNvPr id="4" name="Text 1"/>
          <p:cNvSpPr/>
          <p:nvPr/>
        </p:nvSpPr>
        <p:spPr>
          <a:xfrm>
            <a:off x="11384280" y="246888"/>
            <a:ext cx="457200" cy="182880"/>
          </a:xfrm>
          <a:prstGeom prst="rect">
            <a:avLst/>
          </a:prstGeom>
          <a:noFill/>
          <a:ln/>
        </p:spPr>
        <p:txBody>
          <a:bodyPr wrap="square" lIns="0" tIns="0" rIns="0" bIns="0" rtlCol="0" anchor="ctr"/>
          <a:lstStyle/>
          <a:p>
            <a:pPr algn="r" indent="0" marL="0">
              <a:buNone/>
            </a:pPr>
            <a:r>
              <a:rPr lang="en-US" sz="850" dirty="0">
                <a:solidFill>
                  <a:srgbClr val="7D8EA3"/>
                </a:solidFill>
              </a:rPr>
              <a:t>13</a:t>
            </a:r>
            <a:endParaRPr lang="en-US" sz="850" dirty="0"/>
          </a:p>
        </p:txBody>
      </p:sp>
      <p:sp>
        <p:nvSpPr>
          <p:cNvPr id="5" name="Shape 2"/>
          <p:cNvSpPr/>
          <p:nvPr/>
        </p:nvSpPr>
        <p:spPr>
          <a:xfrm>
            <a:off x="320040" y="804672"/>
            <a:ext cx="11384280" cy="0"/>
          </a:xfrm>
          <a:prstGeom prst="line">
            <a:avLst/>
          </a:prstGeom>
          <a:noFill/>
          <a:ln w="12700">
            <a:solidFill>
              <a:srgbClr val="264766">
                <a:alpha val="75000"/>
              </a:srgbClr>
            </a:solidFill>
            <a:prstDash val="solid"/>
          </a:ln>
        </p:spPr>
      </p:sp>
      <p:sp>
        <p:nvSpPr>
          <p:cNvPr id="6" name="Text 3"/>
          <p:cNvSpPr/>
          <p:nvPr/>
        </p:nvSpPr>
        <p:spPr>
          <a:xfrm>
            <a:off x="731520" y="1051560"/>
            <a:ext cx="2331720" cy="10972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$120K
</a:t>
            </a:r>
            <a:pPr algn="ctr" indent="0" marL="0">
              <a:buNone/>
            </a:pPr>
            <a:r>
              <a:rPr lang="en-US" sz="1050" b="1" dirty="0">
                <a:solidFill>
                  <a:srgbClr val="F8FAFC"/>
                </a:solidFill>
              </a:rPr>
              <a:t>round size
</a:t>
            </a:r>
            <a:pPr algn="ctr" indent="0" marL="0">
              <a:buNone/>
            </a:pPr>
            <a:r>
              <a:rPr lang="en-US" sz="850" dirty="0">
                <a:solidFill>
                  <a:srgbClr val="B8C5D6"/>
                </a:solidFill>
              </a:rPr>
              <a:t>Post-money SAFE</a:t>
            </a:r>
            <a:endParaRPr lang="en-US" sz="2600" dirty="0"/>
          </a:p>
        </p:txBody>
      </p:sp>
      <p:sp>
        <p:nvSpPr>
          <p:cNvPr id="7" name="Text 4"/>
          <p:cNvSpPr/>
          <p:nvPr/>
        </p:nvSpPr>
        <p:spPr>
          <a:xfrm>
            <a:off x="3310128" y="1051560"/>
            <a:ext cx="2331720" cy="10972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$4M
</a:t>
            </a:r>
            <a:pPr algn="ctr" indent="0" marL="0">
              <a:buNone/>
            </a:pPr>
            <a:r>
              <a:rPr lang="en-US" sz="1050" b="1" dirty="0">
                <a:solidFill>
                  <a:srgbClr val="F8FAFC"/>
                </a:solidFill>
              </a:rPr>
              <a:t>valuation cap
</a:t>
            </a:r>
            <a:pPr algn="ctr" indent="0" marL="0">
              <a:buNone/>
            </a:pPr>
            <a:r>
              <a:rPr lang="en-US" sz="850" dirty="0">
                <a:solidFill>
                  <a:srgbClr val="B8C5D6"/>
                </a:solidFill>
              </a:rPr>
              <a:t>Pre-seed structure</a:t>
            </a:r>
            <a:endParaRPr lang="en-US" sz="2600" dirty="0"/>
          </a:p>
        </p:txBody>
      </p:sp>
      <p:sp>
        <p:nvSpPr>
          <p:cNvPr id="8" name="Text 5"/>
          <p:cNvSpPr/>
          <p:nvPr/>
        </p:nvSpPr>
        <p:spPr>
          <a:xfrm>
            <a:off x="5888736" y="1051560"/>
            <a:ext cx="2331720" cy="10972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$100
</a:t>
            </a:r>
            <a:pPr algn="ctr" indent="0" marL="0">
              <a:buNone/>
            </a:pPr>
            <a:r>
              <a:rPr lang="en-US" sz="1050" b="1" dirty="0">
                <a:solidFill>
                  <a:srgbClr val="F8FAFC"/>
                </a:solidFill>
              </a:rPr>
              <a:t>minimum
</a:t>
            </a:r>
            <a:pPr algn="ctr" indent="0" marL="0">
              <a:buNone/>
            </a:pPr>
            <a:r>
              <a:rPr lang="en-US" sz="850" dirty="0">
                <a:solidFill>
                  <a:srgbClr val="B8C5D6"/>
                </a:solidFill>
              </a:rPr>
              <a:t>Wefunder investment</a:t>
            </a:r>
            <a:endParaRPr lang="en-US" sz="2600" dirty="0"/>
          </a:p>
        </p:txBody>
      </p:sp>
      <p:sp>
        <p:nvSpPr>
          <p:cNvPr id="9" name="Text 6"/>
          <p:cNvSpPr/>
          <p:nvPr/>
        </p:nvSpPr>
        <p:spPr>
          <a:xfrm>
            <a:off x="8467344" y="1051560"/>
            <a:ext cx="2331720" cy="1097280"/>
          </a:xfrm>
          <a:prstGeom prst="rect">
            <a:avLst/>
          </a:prstGeom>
          <a:solidFill>
            <a:srgbClr val="0D223B">
              <a:alpha val="96000"/>
            </a:srgbClr>
          </a:solidFill>
          <a:ln w="12700">
            <a:solidFill>
              <a:srgbClr val="264766">
                <a:alpha val="80000"/>
              </a:srgbClr>
            </a:solidFill>
          </a:ln>
        </p:spPr>
        <p:txBody>
          <a:bodyPr wrap="square" lIns="1524" tIns="1524" rIns="1524" bIns="1524" rtlCol="0" anchor="ctr">
            <a:normAutofit/>
          </a:bodyPr>
          <a:lstStyle/>
          <a:p>
            <a:pPr algn="ctr" indent="0" marL="0">
              <a:buNone/>
            </a:pPr>
            <a:r>
              <a:rPr lang="en-US" sz="2600" b="1" dirty="0">
                <a:solidFill>
                  <a:srgbClr val="FBBF24"/>
                </a:solidFill>
              </a:rPr>
              <a:t>Q2-Q3
</a:t>
            </a:r>
            <a:pPr algn="ctr" indent="0" marL="0">
              <a:buNone/>
            </a:pPr>
            <a:r>
              <a:rPr lang="en-US" sz="1050" b="1" dirty="0">
                <a:solidFill>
                  <a:srgbClr val="F8FAFC"/>
                </a:solidFill>
              </a:rPr>
              <a:t>milestone
</a:t>
            </a:r>
            <a:pPr algn="ctr" indent="0" marL="0">
              <a:buNone/>
            </a:pPr>
            <a:r>
              <a:rPr lang="en-US" sz="850" dirty="0">
                <a:solidFill>
                  <a:srgbClr val="B8C5D6"/>
                </a:solidFill>
              </a:rPr>
              <a:t>pilot to revenue</a:t>
            </a:r>
            <a:endParaRPr lang="en-US" sz="2600" dirty="0"/>
          </a:p>
        </p:txBody>
      </p:sp>
      <p:sp>
        <p:nvSpPr>
          <p:cNvPr id="10" name="Text 7"/>
          <p:cNvSpPr/>
          <p:nvPr/>
        </p:nvSpPr>
        <p:spPr>
          <a:xfrm>
            <a:off x="640080" y="2560320"/>
            <a:ext cx="2651760" cy="22402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$40K - Phase 3A Development
</a:t>
            </a:r>
            <a:pPr indent="0" marL="0">
              <a:buNone/>
            </a:pPr>
            <a:r>
              <a:rPr lang="en-US" sz="1080" dirty="0">
                <a:solidFill>
                  <a:srgbClr val="F8FAFC"/>
                </a:solidFill>
                <a:latin typeface="Aptos" pitchFamily="34" charset="0"/>
                <a:ea typeface="Aptos" pitchFamily="34" charset="-122"/>
                <a:cs typeface="Aptos" pitchFamily="34" charset="-120"/>
              </a:rPr>
              <a:t>Admin module, PDF filing system, file storage, contracts, locations buildout.</a:t>
            </a:r>
            <a:endParaRPr lang="en-US" sz="1500" dirty="0"/>
          </a:p>
        </p:txBody>
      </p:sp>
      <p:sp>
        <p:nvSpPr>
          <p:cNvPr id="11" name="Text 8"/>
          <p:cNvSpPr/>
          <p:nvPr/>
        </p:nvSpPr>
        <p:spPr>
          <a:xfrm>
            <a:off x="3520440" y="2560320"/>
            <a:ext cx="2651760" cy="22402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$30K - Customer Acquisition
</a:t>
            </a:r>
            <a:pPr indent="0" marL="0">
              <a:buNone/>
            </a:pPr>
            <a:r>
              <a:rPr lang="en-US" sz="1080" dirty="0">
                <a:solidFill>
                  <a:srgbClr val="F8FAFC"/>
                </a:solidFill>
                <a:latin typeface="Aptos" pitchFamily="34" charset="0"/>
                <a:ea typeface="Aptos" pitchFamily="34" charset="-122"/>
                <a:cs typeface="Aptos" pitchFamily="34" charset="-120"/>
              </a:rPr>
              <a:t>Close first 3 pilot customers, onboarding support, demo materials, sales collateral.</a:t>
            </a:r>
            <a:endParaRPr lang="en-US" sz="1500" dirty="0"/>
          </a:p>
        </p:txBody>
      </p:sp>
      <p:sp>
        <p:nvSpPr>
          <p:cNvPr id="12" name="Text 9"/>
          <p:cNvSpPr/>
          <p:nvPr/>
        </p:nvSpPr>
        <p:spPr>
          <a:xfrm>
            <a:off x="6400800" y="2560320"/>
            <a:ext cx="2651760" cy="22402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$30K - Founder Salary
</a:t>
            </a:r>
            <a:pPr indent="0" marL="0">
              <a:buNone/>
            </a:pPr>
            <a:r>
              <a:rPr lang="en-US" sz="1080" dirty="0">
                <a:solidFill>
                  <a:srgbClr val="F8FAFC"/>
                </a:solidFill>
                <a:latin typeface="Aptos" pitchFamily="34" charset="0"/>
                <a:ea typeface="Aptos" pitchFamily="34" charset="-122"/>
                <a:cs typeface="Aptos" pitchFamily="34" charset="-120"/>
              </a:rPr>
              <a:t>3 months runway for full-time focus on pilots, product refinement, and customer onboarding.</a:t>
            </a:r>
            <a:endParaRPr lang="en-US" sz="1500" dirty="0"/>
          </a:p>
        </p:txBody>
      </p:sp>
      <p:sp>
        <p:nvSpPr>
          <p:cNvPr id="13" name="Text 10"/>
          <p:cNvSpPr/>
          <p:nvPr/>
        </p:nvSpPr>
        <p:spPr>
          <a:xfrm>
            <a:off x="9281160" y="2560320"/>
            <a:ext cx="2286000" cy="2240280"/>
          </a:xfrm>
          <a:prstGeom prst="rect">
            <a:avLst/>
          </a:prstGeom>
          <a:solidFill>
            <a:srgbClr val="0D223B">
              <a:alpha val="92000"/>
            </a:srgbClr>
          </a:solidFill>
          <a:ln w="15240">
            <a:solidFill>
              <a:srgbClr val="264766">
                <a:alpha val="75000"/>
              </a:srgbClr>
            </a:solidFill>
          </a:ln>
        </p:spPr>
        <p:txBody>
          <a:bodyPr wrap="square" lIns="1651" tIns="1651" rIns="1651" bIns="1651" rtlCol="0" anchor="t">
            <a:normAutofit/>
          </a:bodyPr>
          <a:lstStyle/>
          <a:p>
            <a:pPr indent="0" marL="0">
              <a:buNone/>
            </a:pPr>
            <a:r>
              <a:rPr lang="en-US" sz="1500" b="1" dirty="0">
                <a:solidFill>
                  <a:srgbClr val="FBBF24"/>
                </a:solidFill>
                <a:latin typeface="Aptos" pitchFamily="34" charset="0"/>
                <a:ea typeface="Aptos" pitchFamily="34" charset="-122"/>
                <a:cs typeface="Aptos" pitchFamily="34" charset="-120"/>
              </a:rPr>
              <a:t>$20K - Infrastructure
</a:t>
            </a:r>
            <a:pPr indent="0" marL="0">
              <a:buNone/>
            </a:pPr>
            <a:r>
              <a:rPr lang="en-US" sz="1080" dirty="0">
                <a:solidFill>
                  <a:srgbClr val="F8FAFC"/>
                </a:solidFill>
                <a:latin typeface="Aptos" pitchFamily="34" charset="0"/>
                <a:ea typeface="Aptos" pitchFamily="34" charset="-122"/>
                <a:cs typeface="Aptos" pitchFamily="34" charset="-120"/>
              </a:rPr>
              <a:t>Vercel, Supabase, Claude API, business office, services, and operating costs.</a:t>
            </a:r>
            <a:endParaRPr lang="en-US" sz="1500" dirty="0"/>
          </a:p>
        </p:txBody>
      </p:sp>
      <p:sp>
        <p:nvSpPr>
          <p:cNvPr id="14" name="Text 11"/>
          <p:cNvSpPr/>
          <p:nvPr/>
        </p:nvSpPr>
        <p:spPr>
          <a:xfrm>
            <a:off x="868680" y="5440680"/>
            <a:ext cx="10515600" cy="384048"/>
          </a:xfrm>
          <a:prstGeom prst="rect">
            <a:avLst/>
          </a:prstGeom>
          <a:noFill/>
          <a:ln/>
        </p:spPr>
        <p:txBody>
          <a:bodyPr wrap="square" lIns="254" tIns="254" rIns="254" bIns="254" rtlCol="0" anchor="ctr">
            <a:normAutofit/>
          </a:bodyPr>
          <a:lstStyle/>
          <a:p>
            <a:pPr algn="ctr" indent="0" marL="0">
              <a:buNone/>
            </a:pPr>
            <a:r>
              <a:rPr lang="en-US" sz="1550" b="1" dirty="0">
                <a:solidFill>
                  <a:srgbClr val="FBBF24"/>
                </a:solidFill>
              </a:rPr>
              <a:t>Success milestone: first pilot customers onboarded, pricing validated in live projects, and a repeatable onboarding playbook established.</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82D"/>
        </a:solidFill>
      </p:bgPr>
    </p:bg>
    <p:spTree>
      <p:nvGrpSpPr>
        <p:cNvPr id="1" name=""/>
        <p:cNvGrpSpPr/>
        <p:nvPr/>
      </p:nvGrpSpPr>
      <p:grpSpPr>
        <a:xfrm>
          <a:off x="0" y="0"/>
          <a:ext cx="0" cy="0"/>
          <a:chOff x="0" y="0"/>
          <a:chExt cx="0" cy="0"/>
        </a:xfrm>
      </p:grpSpPr>
      <p:pic>
        <p:nvPicPr>
          <p:cNvPr id="2" name="Image 0" descr="/mnt/data/hero_bg.jpg">    </p:cNvPr>
          <p:cNvPicPr>
            <a:picLocks noChangeAspect="1"/>
          </p:cNvPicPr>
          <p:nvPr/>
        </p:nvPicPr>
        <p:blipFill>
          <a:blip r:embed="rId1"/>
          <a:srcRect l="1" r="1" t="0" b="0"/>
          <a:stretch/>
        </p:blipFill>
        <p:spPr>
          <a:xfrm>
            <a:off x="0" y="0"/>
            <a:ext cx="12191695" cy="6858000"/>
          </a:xfrm>
          <a:prstGeom prst="rect">
            <a:avLst/>
          </a:prstGeom>
        </p:spPr>
      </p:pic>
      <p:pic>
        <p:nvPicPr>
          <p:cNvPr id="3" name="Image 1" descr="/mnt/data/meridian_logo_600.jpg">    </p:cNvPr>
          <p:cNvPicPr>
            <a:picLocks noChangeAspect="1"/>
          </p:cNvPicPr>
          <p:nvPr/>
        </p:nvPicPr>
        <p:blipFill>
          <a:blip r:embed="rId2"/>
          <a:stretch>
            <a:fillRect/>
          </a:stretch>
        </p:blipFill>
        <p:spPr>
          <a:xfrm>
            <a:off x="5212080" y="594360"/>
            <a:ext cx="1783080" cy="1783080"/>
          </a:xfrm>
          <a:prstGeom prst="rect">
            <a:avLst/>
          </a:prstGeom>
        </p:spPr>
      </p:pic>
      <p:sp>
        <p:nvSpPr>
          <p:cNvPr id="4" name="Text 0"/>
          <p:cNvSpPr/>
          <p:nvPr/>
        </p:nvSpPr>
        <p:spPr>
          <a:xfrm>
            <a:off x="1554480" y="2514600"/>
            <a:ext cx="9098280" cy="1051560"/>
          </a:xfrm>
          <a:prstGeom prst="rect">
            <a:avLst/>
          </a:prstGeom>
          <a:noFill/>
          <a:ln/>
        </p:spPr>
        <p:txBody>
          <a:bodyPr wrap="square" lIns="0" tIns="0" rIns="0" bIns="0" rtlCol="0" anchor="ctr">
            <a:normAutofit/>
          </a:bodyPr>
          <a:lstStyle/>
          <a:p>
            <a:pPr algn="ctr" indent="0" marL="0">
              <a:buNone/>
            </a:pPr>
            <a:r>
              <a:rPr lang="en-US" sz="3400" b="1" dirty="0">
                <a:solidFill>
                  <a:srgbClr val="FBBF24"/>
                </a:solidFill>
                <a:latin typeface="Aptos Display" pitchFamily="34" charset="0"/>
                <a:ea typeface="Aptos Display" pitchFamily="34" charset="-122"/>
                <a:cs typeface="Aptos Display" pitchFamily="34" charset="-120"/>
              </a:rPr>
              <a:t>LET'S BUILD THE FUTURE OF</a:t>
            </a:r>
            <a:endParaRPr lang="en-US" sz="3400" dirty="0"/>
          </a:p>
          <a:p>
            <a:pPr algn="ctr" indent="0" marL="0">
              <a:buNone/>
            </a:pPr>
            <a:r>
              <a:rPr lang="en-US" sz="3400" b="1" dirty="0">
                <a:solidFill>
                  <a:srgbClr val="FBBF24"/>
                </a:solidFill>
                <a:latin typeface="Aptos Display" pitchFamily="34" charset="0"/>
                <a:ea typeface="Aptos Display" pitchFamily="34" charset="-122"/>
                <a:cs typeface="Aptos Display" pitchFamily="34" charset="-120"/>
              </a:rPr>
              <a:t>SOLAR CONSTRUCTION</a:t>
            </a:r>
            <a:endParaRPr lang="en-US" sz="3400" dirty="0"/>
          </a:p>
        </p:txBody>
      </p:sp>
      <p:sp>
        <p:nvSpPr>
          <p:cNvPr id="5" name="Text 1"/>
          <p:cNvSpPr/>
          <p:nvPr/>
        </p:nvSpPr>
        <p:spPr>
          <a:xfrm>
            <a:off x="4023360" y="4069080"/>
            <a:ext cx="4160520" cy="548640"/>
          </a:xfrm>
          <a:prstGeom prst="rect">
            <a:avLst/>
          </a:prstGeom>
          <a:noFill/>
          <a:ln/>
        </p:spPr>
        <p:txBody>
          <a:bodyPr wrap="square" lIns="254" tIns="254" rIns="254" bIns="254" rtlCol="0" anchor="ctr"/>
          <a:lstStyle/>
          <a:p>
            <a:pPr algn="ctr" indent="0" marL="0">
              <a:buNone/>
            </a:pPr>
            <a:r>
              <a:rPr lang="en-US" sz="1500" b="1" dirty="0">
                <a:solidFill>
                  <a:srgbClr val="F8FAFC"/>
                </a:solidFill>
              </a:rPr>
              <a:t>CHRIS FRYE</a:t>
            </a:r>
            <a:endParaRPr lang="en-US" sz="1500" dirty="0"/>
          </a:p>
          <a:p>
            <a:pPr algn="ctr" indent="0" marL="0">
              <a:buNone/>
            </a:pPr>
            <a:r>
              <a:rPr lang="en-US" sz="1500" b="1" dirty="0">
                <a:solidFill>
                  <a:srgbClr val="F8FAFC"/>
                </a:solidFill>
              </a:rPr>
              <a:t>Founder &amp; CEO</a:t>
            </a:r>
            <a:endParaRPr lang="en-US" sz="1500" dirty="0"/>
          </a:p>
        </p:txBody>
      </p:sp>
      <p:sp>
        <p:nvSpPr>
          <p:cNvPr id="6" name="Text 2"/>
          <p:cNvSpPr/>
          <p:nvPr/>
        </p:nvSpPr>
        <p:spPr>
          <a:xfrm>
            <a:off x="3017520" y="4919472"/>
            <a:ext cx="6172200" cy="640080"/>
          </a:xfrm>
          <a:prstGeom prst="rect">
            <a:avLst/>
          </a:prstGeom>
          <a:noFill/>
          <a:ln/>
        </p:spPr>
        <p:txBody>
          <a:bodyPr wrap="square" lIns="254" tIns="254" rIns="254" bIns="254" rtlCol="0" anchor="ctr"/>
          <a:lstStyle/>
          <a:p>
            <a:pPr algn="ctr" indent="0" marL="0">
              <a:buNone/>
            </a:pPr>
            <a:r>
              <a:rPr lang="en-US" sz="1250" dirty="0">
                <a:solidFill>
                  <a:srgbClr val="B8C5D6"/>
                </a:solidFill>
              </a:rPr>
              <a:t>chris@meridianfieldcommand.com</a:t>
            </a:r>
            <a:endParaRPr lang="en-US" sz="1250" dirty="0"/>
          </a:p>
          <a:p>
            <a:pPr algn="ctr" indent="0" marL="0">
              <a:buNone/>
            </a:pPr>
            <a:r>
              <a:rPr lang="en-US" sz="1250" dirty="0">
                <a:solidFill>
                  <a:srgbClr val="B8C5D6"/>
                </a:solidFill>
              </a:rPr>
              <a:t>meridianfieldcommand.com</a:t>
            </a:r>
            <a:endParaRPr lang="en-US" sz="1250" dirty="0"/>
          </a:p>
          <a:p>
            <a:pPr algn="ctr" indent="0" marL="0">
              <a:buNone/>
            </a:pPr>
            <a:r>
              <a:rPr lang="en-US" sz="1250" dirty="0">
                <a:solidFill>
                  <a:srgbClr val="B8C5D6"/>
                </a:solidFill>
              </a:rPr>
              <a:t>wefunder.com/meridian.field.command</a:t>
            </a:r>
            <a:endParaRPr lang="en-US" sz="1250" dirty="0"/>
          </a:p>
        </p:txBody>
      </p:sp>
      <p:sp>
        <p:nvSpPr>
          <p:cNvPr id="7" name="Text 3"/>
          <p:cNvSpPr/>
          <p:nvPr/>
        </p:nvSpPr>
        <p:spPr>
          <a:xfrm>
            <a:off x="3520440" y="5989320"/>
            <a:ext cx="5166360" cy="256032"/>
          </a:xfrm>
          <a:prstGeom prst="rect">
            <a:avLst/>
          </a:prstGeom>
          <a:noFill/>
          <a:ln/>
        </p:spPr>
        <p:txBody>
          <a:bodyPr wrap="square" lIns="0" tIns="0" rIns="0" bIns="0" rtlCol="0" anchor="ctr"/>
          <a:lstStyle/>
          <a:p>
            <a:pPr algn="ctr" indent="0" marL="0">
              <a:buNone/>
            </a:pPr>
            <a:r>
              <a:rPr lang="en-US" sz="1200" dirty="0">
                <a:solidFill>
                  <a:srgbClr val="7D8EA3"/>
                </a:solidFill>
              </a:rPr>
              <a:t>Built for the Field. By the Field.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Meridian Field Command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Field Command - OpenVC Score Optimized Deck - Version 2 Corrected</dc:title>
  <dc:subject>OpenVC-optimized pitch deck - Version 2 Corrected</dc:subject>
  <dc:creator>Meridian Field Command</dc:creator>
  <cp:lastModifiedBy>Meridian Field Command</cp:lastModifiedBy>
  <cp:revision>1</cp:revision>
  <dcterms:created xsi:type="dcterms:W3CDTF">2026-05-22T18:55:56Z</dcterms:created>
  <dcterms:modified xsi:type="dcterms:W3CDTF">2026-05-22T18:55:56Z</dcterms:modified>
</cp:coreProperties>
</file>